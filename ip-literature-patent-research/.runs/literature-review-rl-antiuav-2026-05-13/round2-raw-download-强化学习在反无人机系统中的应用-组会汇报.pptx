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937760"/>
            <a:ext cx="2743200" cy="2743200"/>
          </a:xfrm>
          <a:prstGeom prst="ellipse">
            <a:avLst/>
          </a:prstGeom>
          <a:solidFill>
            <a:srgbClr val="7C3AED">
              <a:alpha val="1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封面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040880" y="1097280"/>
            <a:ext cx="3931920" cy="3931920"/>
          </a:xfrm>
          <a:prstGeom prst="ellipse">
            <a:avLst/>
          </a:prstGeom>
          <a:solidFill>
            <a:srgbClr val="0EA5E9">
              <a:alpha val="16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0" y="1920240"/>
            <a:ext cx="2103120" cy="2103120"/>
          </a:xfrm>
          <a:prstGeom prst="ellipse">
            <a:avLst/>
          </a:prstGeom>
          <a:solidFill>
            <a:srgbClr val="A78BFA">
              <a:alpha val="22000"/>
            </a:srgbClr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078992"/>
            <a:ext cx="69494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强化学习在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反无人机系统中的应用</a:t>
            </a:r>
            <a:endParaRPr lang="en-US" sz="3200" dirty="0"/>
          </a:p>
        </p:txBody>
      </p:sp>
      <p:sp>
        <p:nvSpPr>
          <p:cNvPr id="11" name="Shape 9"/>
          <p:cNvSpPr/>
          <p:nvPr/>
        </p:nvSpPr>
        <p:spPr>
          <a:xfrm>
            <a:off x="713232" y="2788920"/>
            <a:ext cx="4297680" cy="0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99923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文献综述组会汇报｜Reinforcement Learning for Counter-UAV Systems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13232" y="4297680"/>
            <a:ext cx="1078992" cy="347472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4361688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多源感知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1810512" y="43434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057400" y="4297680"/>
            <a:ext cx="1078992" cy="347472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30552" y="4361688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威胁评估</a:t>
            </a:r>
            <a:endParaRPr lang="en-US" sz="830" dirty="0"/>
          </a:p>
        </p:txBody>
      </p:sp>
      <p:sp>
        <p:nvSpPr>
          <p:cNvPr id="18" name="Text 16"/>
          <p:cNvSpPr/>
          <p:nvPr/>
        </p:nvSpPr>
        <p:spPr>
          <a:xfrm>
            <a:off x="3154680" y="43434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01568" y="4297680"/>
            <a:ext cx="1078992" cy="347472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4361688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任务分配</a:t>
            </a:r>
            <a:endParaRPr lang="en-US" sz="830" dirty="0"/>
          </a:p>
        </p:txBody>
      </p:sp>
      <p:sp>
        <p:nvSpPr>
          <p:cNvPr id="21" name="Text 19"/>
          <p:cNvSpPr/>
          <p:nvPr/>
        </p:nvSpPr>
        <p:spPr>
          <a:xfrm>
            <a:off x="4498848" y="43434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45736" y="4297680"/>
            <a:ext cx="1078992" cy="347472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18888" y="4361688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拦截/压制</a:t>
            </a:r>
            <a:endParaRPr lang="en-US" sz="830" dirty="0"/>
          </a:p>
        </p:txBody>
      </p:sp>
      <p:sp>
        <p:nvSpPr>
          <p:cNvPr id="24" name="Text 22"/>
          <p:cNvSpPr/>
          <p:nvPr/>
        </p:nvSpPr>
        <p:spPr>
          <a:xfrm>
            <a:off x="5843016" y="43434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9904" y="4297680"/>
            <a:ext cx="1078992" cy="347472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63056" y="4361688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合规处置</a:t>
            </a:r>
            <a:endParaRPr lang="en-US" sz="830" dirty="0"/>
          </a:p>
        </p:txBody>
      </p:sp>
      <p:sp>
        <p:nvSpPr>
          <p:cNvPr id="27" name="Text 25"/>
          <p:cNvSpPr/>
          <p:nvPr/>
        </p:nvSpPr>
        <p:spPr>
          <a:xfrm>
            <a:off x="713232" y="55595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基于上传综述文本整理｜深色学术版｜12–18 页要求：18 页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8549640" y="1353312"/>
            <a:ext cx="2057400" cy="2057400"/>
          </a:xfrm>
          <a:prstGeom prst="roundRect">
            <a:avLst/>
          </a:prstGeom>
          <a:solidFill>
            <a:srgbClr val="1E293B">
              <a:alpha val="88000"/>
            </a:srgbClr>
          </a:solidFill>
          <a:ln w="13970">
            <a:solidFill>
              <a:srgbClr val="38BDF8">
                <a:alpha val="6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924544" y="1755648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8805672" y="2395728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Learning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915400" y="3977640"/>
            <a:ext cx="1280160" cy="0"/>
          </a:xfrm>
          <a:prstGeom prst="line">
            <a:avLst/>
          </a:prstGeom>
          <a:noFill/>
          <a:ln w="1778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555480" y="3474720"/>
            <a:ext cx="0" cy="1005840"/>
          </a:xfrm>
          <a:prstGeom prst="line">
            <a:avLst/>
          </a:prstGeom>
          <a:noFill/>
          <a:ln w="17780">
            <a:solidFill>
              <a:srgbClr val="38BDF8">
                <a:alpha val="8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69680" y="3474720"/>
            <a:ext cx="256032" cy="256032"/>
          </a:xfrm>
          <a:prstGeom prst="ellipse">
            <a:avLst/>
          </a:prstGeom>
          <a:solidFill>
            <a:srgbClr val="17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149840" y="3474720"/>
            <a:ext cx="256032" cy="256032"/>
          </a:xfrm>
          <a:prstGeom prst="ellipse">
            <a:avLst/>
          </a:prstGeom>
          <a:solidFill>
            <a:srgbClr val="17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869680" y="4389120"/>
            <a:ext cx="256032" cy="256032"/>
          </a:xfrm>
          <a:prstGeom prst="ellipse">
            <a:avLst/>
          </a:prstGeom>
          <a:solidFill>
            <a:srgbClr val="17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149840" y="4389120"/>
            <a:ext cx="256032" cy="256032"/>
          </a:xfrm>
          <a:prstGeom prst="ellipse">
            <a:avLst/>
          </a:prstGeom>
          <a:solidFill>
            <a:srgbClr val="172033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09176" y="3831336"/>
            <a:ext cx="292608" cy="292608"/>
          </a:xfrm>
          <a:prstGeom prst="ellipse">
            <a:avLst/>
          </a:prstGeom>
          <a:solidFill>
            <a:srgbClr val="A78BFA">
              <a:alpha val="85000"/>
            </a:srgbClr>
          </a:solidFill>
          <a:ln w="12700">
            <a:solidFill>
              <a:srgbClr val="A78BF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937760"/>
            <a:ext cx="2743200" cy="2743200"/>
          </a:xfrm>
          <a:prstGeom prst="ellipse">
            <a:avLst/>
          </a:prstGeom>
          <a:solidFill>
            <a:srgbClr val="7C3AED">
              <a:alpha val="1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报告结构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32004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报告结构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758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从系统问题到方法谱系，再到评测与未来方向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31520" y="1234440"/>
            <a:ext cx="10698480" cy="713232"/>
          </a:xfrm>
          <a:prstGeom prst="roundRect">
            <a:avLst/>
          </a:prstGeom>
          <a:solidFill>
            <a:srgbClr val="172033">
              <a:alpha val="98000"/>
            </a:srgbClr>
          </a:solidFill>
          <a:ln w="762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408176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0200" y="13716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60520" y="1408176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C-UAS 从“探测工具”走向闭环系统工程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2167128"/>
            <a:ext cx="10698480" cy="713232"/>
          </a:xfrm>
          <a:prstGeom prst="roundRect">
            <a:avLst/>
          </a:prstGeom>
          <a:solidFill>
            <a:srgbClr val="0F172A">
              <a:alpha val="98000"/>
            </a:srgbClr>
          </a:solidFill>
          <a:ln w="762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340864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600200" y="2304288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问题定义与挑战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160520" y="2340864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MDP / POMDP / Markov 博弈下的状态、动作与约束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31520" y="3099816"/>
            <a:ext cx="10698480" cy="713232"/>
          </a:xfrm>
          <a:prstGeom prst="roundRect">
            <a:avLst/>
          </a:prstGeom>
          <a:solidFill>
            <a:srgbClr val="172033">
              <a:alpha val="98000"/>
            </a:srgbClr>
          </a:solidFill>
          <a:ln w="762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273552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00200" y="3236976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典型方法分类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60520" y="3273552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值函数、策略梯度、多智能体、模仿学习、Sim-to-Real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31520" y="4032504"/>
            <a:ext cx="10698480" cy="713232"/>
          </a:xfrm>
          <a:prstGeom prst="roundRect">
            <a:avLst/>
          </a:prstGeom>
          <a:solidFill>
            <a:srgbClr val="0F172A">
              <a:alpha val="98000"/>
            </a:srgbClr>
          </a:solidFill>
          <a:ln w="762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206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600200" y="4169664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代表性工作与平台指标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60520" y="4206240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横向比较核心论文、仿真环境、数据与评测维度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1520" y="4965192"/>
            <a:ext cx="10698480" cy="713232"/>
          </a:xfrm>
          <a:prstGeom prst="roundRect">
            <a:avLst/>
          </a:prstGeom>
          <a:solidFill>
            <a:srgbClr val="172033">
              <a:alpha val="98000"/>
            </a:srgbClr>
          </a:solidFill>
          <a:ln w="762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513892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600200" y="5102352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开放问题与结论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60520" y="5138928"/>
            <a:ext cx="6995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样本效率、泛化鲁棒、合规部署与混合系统定位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" y="6053328"/>
            <a:ext cx="103327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汇报建议：重点讲第 6–13 页的方法谱系与代表性工作，第 16–17 页用于讨论。</a:t>
            </a:r>
            <a:endParaRPr lang="en-US" sz="7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937760"/>
            <a:ext cx="2743200" cy="2743200"/>
          </a:xfrm>
          <a:prstGeom prst="ellipse">
            <a:avLst/>
          </a:prstGeom>
          <a:solidFill>
            <a:srgbClr val="7C3AED">
              <a:alpha val="1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32004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研究背景与意义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758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反无人机已由“单点探测—人工处置”演化为闭环系统工程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94360" y="1143000"/>
            <a:ext cx="3657600" cy="480060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143000"/>
            <a:ext cx="41148" cy="4800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1271016"/>
            <a:ext cx="3364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 RL？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" y="1581912"/>
            <a:ext cx="3364992" cy="4297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目标小、低空慢速、机动强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传感器异构：雷达 / RF / 声学 / 光电红外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对手策略持续变化，规则策略易脆弱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集群、小低慢、复杂地物与强电磁对抗使单阶段优化失效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00600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系统目标演化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0600" y="1828800"/>
            <a:ext cx="960120" cy="749808"/>
          </a:xfrm>
          <a:prstGeom prst="roundRect">
            <a:avLst/>
          </a:prstGeom>
          <a:solidFill>
            <a:srgbClr val="1E293B">
              <a:alpha val="95000"/>
            </a:srgbClr>
          </a:solidFill>
          <a:ln w="1524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2002536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多源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79008" y="2203704"/>
            <a:ext cx="283464" cy="0"/>
          </a:xfrm>
          <a:prstGeom prst="line">
            <a:avLst/>
          </a:prstGeom>
          <a:noFill/>
          <a:ln w="21590">
            <a:solidFill>
              <a:srgbClr val="94A3B8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72200" y="1828800"/>
            <a:ext cx="960120" cy="749808"/>
          </a:xfrm>
          <a:prstGeom prst="roundRect">
            <a:avLst/>
          </a:prstGeom>
          <a:solidFill>
            <a:srgbClr val="1E293B">
              <a:alpha val="95000"/>
            </a:srgbClr>
          </a:solidFill>
          <a:ln w="15240">
            <a:solidFill>
              <a:srgbClr val="60A5FA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45352" y="2002536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150608" y="2203704"/>
            <a:ext cx="374904" cy="0"/>
          </a:xfrm>
          <a:prstGeom prst="line">
            <a:avLst/>
          </a:prstGeom>
          <a:noFill/>
          <a:ln w="21590">
            <a:solidFill>
              <a:srgbClr val="94A3B8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635240" y="1828800"/>
            <a:ext cx="960120" cy="749808"/>
          </a:xfrm>
          <a:prstGeom prst="roundRect">
            <a:avLst/>
          </a:prstGeom>
          <a:solidFill>
            <a:srgbClr val="1E293B">
              <a:alpha val="95000"/>
            </a:srgbClr>
          </a:solidFill>
          <a:ln w="1524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08392" y="2002536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分配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613648" y="2203704"/>
            <a:ext cx="374904" cy="0"/>
          </a:xfrm>
          <a:prstGeom prst="line">
            <a:avLst/>
          </a:prstGeom>
          <a:noFill/>
          <a:ln w="21590">
            <a:solidFill>
              <a:srgbClr val="94A3B8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098280" y="1828800"/>
            <a:ext cx="960120" cy="749808"/>
          </a:xfrm>
          <a:prstGeom prst="roundRect">
            <a:avLst/>
          </a:prstGeom>
          <a:solidFill>
            <a:srgbClr val="1E293B">
              <a:alpha val="95000"/>
            </a:srgbClr>
          </a:solidFill>
          <a:ln w="15240">
            <a:solidFill>
              <a:srgbClr val="FBBF24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71432" y="2002536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压制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0076688" y="2203704"/>
            <a:ext cx="374904" cy="0"/>
          </a:xfrm>
          <a:prstGeom prst="line">
            <a:avLst/>
          </a:prstGeom>
          <a:noFill/>
          <a:ln w="21590">
            <a:solidFill>
              <a:srgbClr val="94A3B8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561320" y="1828800"/>
            <a:ext cx="960120" cy="749808"/>
          </a:xfrm>
          <a:prstGeom prst="roundRect">
            <a:avLst/>
          </a:prstGeom>
          <a:solidFill>
            <a:srgbClr val="1E293B">
              <a:alpha val="95000"/>
            </a:srgbClr>
          </a:solidFill>
          <a:ln w="1524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634472" y="2002536"/>
            <a:ext cx="813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800600" y="3154680"/>
            <a:ext cx="6263640" cy="0"/>
          </a:xfrm>
          <a:prstGeom prst="line">
            <a:avLst/>
          </a:prstGeom>
          <a:noFill/>
          <a:ln w="12700">
            <a:solidFill>
              <a:srgbClr val="334155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3794760"/>
            <a:ext cx="1874520" cy="1325880"/>
          </a:xfrm>
          <a:prstGeom prst="roundRect">
            <a:avLst/>
          </a:prstGeom>
          <a:solidFill>
            <a:srgbClr val="172033">
              <a:alpha val="92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395935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715000" y="39959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决策层不再是感知附庸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965192" y="4507992"/>
            <a:ext cx="1554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任务分配、压制时机、协同围捕需要独立优化</a:t>
            </a:r>
            <a:endParaRPr lang="en-US" sz="810" dirty="0"/>
          </a:p>
        </p:txBody>
      </p:sp>
      <p:sp>
        <p:nvSpPr>
          <p:cNvPr id="35" name="Shape 33"/>
          <p:cNvSpPr/>
          <p:nvPr/>
        </p:nvSpPr>
        <p:spPr>
          <a:xfrm>
            <a:off x="6858000" y="3794760"/>
            <a:ext cx="1874520" cy="1325880"/>
          </a:xfrm>
          <a:prstGeom prst="roundRect">
            <a:avLst/>
          </a:prstGeom>
          <a:solidFill>
            <a:srgbClr val="172033">
              <a:alpha val="92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5160" y="395935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7772400" y="39959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的切入点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7022592" y="4507992"/>
            <a:ext cx="1554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闭环决策、自适应博弈、资源协同，而非替代所有感知模块</a:t>
            </a:r>
            <a:endParaRPr lang="en-US" sz="810" dirty="0"/>
          </a:p>
        </p:txBody>
      </p:sp>
      <p:sp>
        <p:nvSpPr>
          <p:cNvPr id="39" name="Shape 37"/>
          <p:cNvSpPr/>
          <p:nvPr/>
        </p:nvSpPr>
        <p:spPr>
          <a:xfrm>
            <a:off x="8915400" y="3794760"/>
            <a:ext cx="1874520" cy="1325880"/>
          </a:xfrm>
          <a:prstGeom prst="roundRect">
            <a:avLst/>
          </a:prstGeom>
          <a:solidFill>
            <a:srgbClr val="172033">
              <a:alpha val="92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052560" y="395935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829800" y="399592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工程价值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9079992" y="4507992"/>
            <a:ext cx="1554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把难以显式建模但必须实时决策的环节转向交互式学习</a:t>
            </a:r>
            <a:endParaRPr lang="en-US" sz="810" dirty="0"/>
          </a:p>
        </p:txBody>
      </p:sp>
      <p:sp>
        <p:nvSpPr>
          <p:cNvPr id="43" name="Text 41"/>
          <p:cNvSpPr/>
          <p:nvPr/>
        </p:nvSpPr>
        <p:spPr>
          <a:xfrm>
            <a:off x="4800600" y="5897880"/>
            <a:ext cx="59436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核心判断：RL 的价值在“闭环 + 对抗 + 协同”三类难题中最突出。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937760"/>
            <a:ext cx="2743200" cy="2743200"/>
          </a:xfrm>
          <a:prstGeom prst="ellipse">
            <a:avLst/>
          </a:prstGeom>
          <a:solidFill>
            <a:srgbClr val="7C3AED">
              <a:alpha val="1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32004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问题定义：把反无人机任务写成闭环决策问题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758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MDP / POMDP 到多智能体 Markov 博弈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94360" y="1143000"/>
            <a:ext cx="2926080" cy="182880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143000"/>
            <a:ext cx="41148" cy="18288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127101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 / 观测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" y="1581912"/>
            <a:ext cx="263347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相对距离、方位、闭合速度、姿态、传感器置信度、通信拓扑、剩余能量、威胁等级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749040" y="1143000"/>
            <a:ext cx="2926080" cy="182880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1143000"/>
            <a:ext cx="41148" cy="18288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13632" y="127101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动作空间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13632" y="1581912"/>
            <a:ext cx="263347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目标选择、装备指派、转向角、机动过载、期望航迹、干扰功率、欺骗参数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903720" y="1143000"/>
            <a:ext cx="2926080" cy="182880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03720" y="1143000"/>
            <a:ext cx="41148" cy="18288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68312" y="1271016"/>
            <a:ext cx="2633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奖励函数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68312" y="1581912"/>
            <a:ext cx="2633472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拦截成功、捕获时间、能耗、风险、误伤约束、通信成本、合规边界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874520" y="3657600"/>
            <a:ext cx="8412480" cy="109728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3968496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 π(a|o) 在不完全观测与对手适应下，最大化长期回报：  E[Σ γᵗ rₜ]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960120" y="5166360"/>
            <a:ext cx="2240280" cy="685800"/>
          </a:xfrm>
          <a:prstGeom prst="roundRect">
            <a:avLst/>
          </a:prstGeom>
          <a:solidFill>
            <a:srgbClr val="1E293B">
              <a:alpha val="93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51560" y="53126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拦截器 / 干扰器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4434840" y="5166360"/>
            <a:ext cx="2240280" cy="685800"/>
          </a:xfrm>
          <a:prstGeom prst="roundRect">
            <a:avLst/>
          </a:prstGeom>
          <a:solidFill>
            <a:srgbClr val="1E293B">
              <a:alpha val="93000"/>
            </a:srgbClr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53126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Environment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空域 / 目标 / 传感器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8138160" y="5166360"/>
            <a:ext cx="2240280" cy="685800"/>
          </a:xfrm>
          <a:prstGeom prst="roundRect">
            <a:avLst/>
          </a:prstGeom>
          <a:solidFill>
            <a:srgbClr val="1E293B">
              <a:alpha val="93000"/>
            </a:srgbClr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531266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Feedback</a:t>
            </a:r>
            <a:endParaRPr lang="en-US" sz="830" dirty="0"/>
          </a:p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 + 奖励 + 约束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3200400" y="5504688"/>
            <a:ext cx="1124712" cy="0"/>
          </a:xfrm>
          <a:prstGeom prst="line">
            <a:avLst/>
          </a:prstGeom>
          <a:noFill/>
          <a:ln w="21590">
            <a:solidFill>
              <a:srgbClr val="38BDF8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748272" y="5504688"/>
            <a:ext cx="1252728" cy="0"/>
          </a:xfrm>
          <a:prstGeom prst="line">
            <a:avLst/>
          </a:prstGeom>
          <a:noFill/>
          <a:ln w="21590">
            <a:solidFill>
              <a:srgbClr val="A78BFA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235440" y="5148072"/>
            <a:ext cx="-7360920" cy="0"/>
          </a:xfrm>
          <a:prstGeom prst="line">
            <a:avLst/>
          </a:prstGeom>
          <a:noFill/>
          <a:ln w="21590">
            <a:solidFill>
              <a:srgbClr val="34D399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685800" y="6236208"/>
            <a:ext cx="107899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反无人机中的“强化学习建模”不是套公式，而是把几何、资源、协同、法规约束同时嵌入状态—动作—奖励设计。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937760"/>
            <a:ext cx="2743200" cy="2743200"/>
          </a:xfrm>
          <a:prstGeom prst="ellipse">
            <a:avLst/>
          </a:prstGeom>
          <a:solidFill>
            <a:srgbClr val="7C3AED">
              <a:alpha val="1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问题定义与挑战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32004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核心挑战：为什么传统规则与静态优化容易失效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758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非线性、部分可观测、强对抗、多主体耦合同时存在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85800" y="1207008"/>
            <a:ext cx="5074920" cy="169164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207008"/>
            <a:ext cx="41148" cy="16916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1335024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部分可观测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" y="1645920"/>
            <a:ext cx="478231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遮挡、噪声、丢帧、传感器异构；策略必须在不完整证据下做风险控制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309360" y="1207008"/>
            <a:ext cx="5074920" cy="169164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F87171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09360" y="1207008"/>
            <a:ext cx="41148" cy="1691640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73952" y="1335024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强对抗与策略变化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73952" y="1645920"/>
            <a:ext cx="478231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目标会规避、欺骗、干扰，甚至攻击决策模块；固定规则易被反制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85800" y="3447288"/>
            <a:ext cx="5074920" cy="169164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5800" y="3447288"/>
            <a:ext cx="41148" cy="16916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0392" y="3575304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多主体协同耦合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" y="3886200"/>
            <a:ext cx="478231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多拦截器、多目标、多干扰源；角色分配、通信与队形共同决定成败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309360" y="3447288"/>
            <a:ext cx="5074920" cy="169164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09360" y="3447288"/>
            <a:ext cx="41148" cy="16916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3575304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工程部署约束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73952" y="3886200"/>
            <a:ext cx="4782312" cy="1188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实时性、通信延迟、能耗、误伤、法规授权与人类在环不可回避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68680" y="5650992"/>
            <a:ext cx="10469880" cy="566928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334155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" y="5824728"/>
            <a:ext cx="10012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方法选择原则：不要只比较算法名词，而要匹配任务结构——离散指派、连续机动、群体博弈、专家知识迁移、部署迁移。</a:t>
            </a:r>
            <a:endParaRPr lang="en-US" sz="86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937760"/>
            <a:ext cx="2743200" cy="2743200"/>
          </a:xfrm>
          <a:prstGeom prst="ellipse">
            <a:avLst/>
          </a:prstGeom>
          <a:solidFill>
            <a:srgbClr val="7C3AED">
              <a:alpha val="1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典型方法分类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32004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典型方法分类：五条主线构成反无人机 RL 谱系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758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值函数 / 策略梯度 / 多智能体 / 模仿学习 / Sim-to-Real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4617720" y="2331720"/>
            <a:ext cx="2057400" cy="2057400"/>
          </a:xfrm>
          <a:prstGeom prst="ellipse">
            <a:avLst/>
          </a:prstGeom>
          <a:solidFill>
            <a:srgbClr val="0EA5E9">
              <a:alpha val="65000"/>
            </a:srgbClr>
          </a:solidFill>
          <a:ln w="1524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56048" y="290779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C-UAS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4400" y="1170432"/>
            <a:ext cx="2743200" cy="1078992"/>
          </a:xfrm>
          <a:prstGeom prst="roundRect">
            <a:avLst/>
          </a:prstGeom>
          <a:solidFill>
            <a:srgbClr val="172033">
              <a:alpha val="97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1170432"/>
            <a:ext cx="41148" cy="10789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8992" y="129844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值函数方法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78992" y="1609344"/>
            <a:ext cx="245059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Q-learning / DQN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离散指派、几何围捕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286000" y="1700784"/>
            <a:ext cx="3337560" cy="1645920"/>
          </a:xfrm>
          <a:prstGeom prst="line">
            <a:avLst/>
          </a:prstGeom>
          <a:noFill/>
          <a:ln w="21590">
            <a:solidFill>
              <a:srgbClr val="38BDF8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863840" y="1170432"/>
            <a:ext cx="2743200" cy="1078992"/>
          </a:xfrm>
          <a:prstGeom prst="roundRect">
            <a:avLst/>
          </a:prstGeom>
          <a:solidFill>
            <a:srgbClr val="172033">
              <a:alpha val="97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63840" y="1170432"/>
            <a:ext cx="41148" cy="1078992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028432" y="1298448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策略梯度 / Actor–Critic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028432" y="1609344"/>
            <a:ext cx="245059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PPO / SAC / TD3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连续机动、轨迹控制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235440" y="1700784"/>
            <a:ext cx="-3611880" cy="1645920"/>
          </a:xfrm>
          <a:prstGeom prst="line">
            <a:avLst/>
          </a:prstGeom>
          <a:noFill/>
          <a:ln w="21590">
            <a:solidFill>
              <a:srgbClr val="34D399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914400" y="4315968"/>
            <a:ext cx="2743200" cy="1078992"/>
          </a:xfrm>
          <a:prstGeom prst="roundRect">
            <a:avLst/>
          </a:prstGeom>
          <a:solidFill>
            <a:srgbClr val="172033">
              <a:alpha val="97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4400" y="4315968"/>
            <a:ext cx="41148" cy="1078992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78992" y="444398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多智能体强化学习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78992" y="4754880"/>
            <a:ext cx="245059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MADDPG / MAPPO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协同拦截、通信博弈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286000" y="4846320"/>
            <a:ext cx="3337560" cy="-1499616"/>
          </a:xfrm>
          <a:prstGeom prst="line">
            <a:avLst/>
          </a:prstGeom>
          <a:noFill/>
          <a:ln w="21590">
            <a:solidFill>
              <a:srgbClr val="A78BFA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863840" y="4315968"/>
            <a:ext cx="2743200" cy="1078992"/>
          </a:xfrm>
          <a:prstGeom prst="roundRect">
            <a:avLst/>
          </a:prstGeom>
          <a:solidFill>
            <a:srgbClr val="172033">
              <a:alpha val="97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863840" y="4315968"/>
            <a:ext cx="41148" cy="10789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28432" y="4443984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模仿学习 / 逆强化学习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28432" y="4754880"/>
            <a:ext cx="245059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GAIL / AIRL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专家战术迁移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235440" y="4846320"/>
            <a:ext cx="-3611880" cy="-1499616"/>
          </a:xfrm>
          <a:prstGeom prst="line">
            <a:avLst/>
          </a:prstGeom>
          <a:noFill/>
          <a:ln w="21590">
            <a:solidFill>
              <a:srgbClr val="FBBF24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206240" y="5074920"/>
            <a:ext cx="2743200" cy="1078992"/>
          </a:xfrm>
          <a:prstGeom prst="roundRect">
            <a:avLst/>
          </a:prstGeom>
          <a:solidFill>
            <a:srgbClr val="172033">
              <a:alpha val="97000"/>
            </a:srgbClr>
          </a:solidFill>
          <a:ln w="1270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206240" y="5074920"/>
            <a:ext cx="41148" cy="107899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5202936"/>
            <a:ext cx="2450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Sim-to-Real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370832" y="5513832"/>
            <a:ext cx="245059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误差注入 / 课程迁移 / HIL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从仿真到部署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577840" y="5605272"/>
            <a:ext cx="45720" cy="-2258568"/>
          </a:xfrm>
          <a:prstGeom prst="line">
            <a:avLst/>
          </a:prstGeom>
          <a:noFill/>
          <a:ln w="21590">
            <a:solidFill>
              <a:srgbClr val="60A5FA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777240" y="6263640"/>
            <a:ext cx="10332720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6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综述判断：MARL 与 HRL 正在从“算法技巧”转为组织复杂反无人机系统的主框架。</a:t>
            </a:r>
            <a:endParaRPr lang="en-US" sz="7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937760"/>
            <a:ext cx="2743200" cy="2743200"/>
          </a:xfrm>
          <a:prstGeom prst="ellipse">
            <a:avLst/>
          </a:prstGeom>
          <a:solidFill>
            <a:srgbClr val="7C3AED">
              <a:alpha val="1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典型方法分类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32004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值函数方法：适合离散任务分配与几何围捕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758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Q-learning / DQN 作为高层决策骨架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85800" y="1170432"/>
            <a:ext cx="3063240" cy="452628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170432"/>
            <a:ext cx="41148" cy="4526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0392" y="1298448"/>
            <a:ext cx="2770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适用任务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" y="1609344"/>
            <a:ext cx="2770632" cy="4023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多类型拦截装备选择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目标—装备任务指派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离散化抗干扰策略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追逃 / 围捕中的区域覆盖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分层框架中的高层动作选择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297680" y="1188720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Q(s,a) 近似：选择长期回报最高的离散动作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134416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A₁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513832" y="134416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A₂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44184" y="134416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A₃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574536" y="134416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A₄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104888" y="1344168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A₅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43400" y="1801368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S₁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983480" y="1664208"/>
            <a:ext cx="530352" cy="530352"/>
          </a:xfrm>
          <a:prstGeom prst="rect">
            <a:avLst/>
          </a:prstGeom>
          <a:solidFill>
            <a:srgbClr val="1E293B">
              <a:alpha val="95000"/>
            </a:srgbClr>
          </a:solidFill>
          <a:ln w="10160">
            <a:solidFill>
              <a:srgbClr val="0B10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13832" y="1664208"/>
            <a:ext cx="530352" cy="530352"/>
          </a:xfrm>
          <a:prstGeom prst="rect">
            <a:avLst/>
          </a:prstGeom>
          <a:solidFill>
            <a:srgbClr val="0F766E">
              <a:alpha val="80000"/>
            </a:srgbClr>
          </a:solidFill>
          <a:ln w="10160">
            <a:solidFill>
              <a:srgbClr val="0B102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44184" y="1664208"/>
            <a:ext cx="530352" cy="530352"/>
          </a:xfrm>
          <a:prstGeom prst="rect">
            <a:avLst/>
          </a:prstGeom>
          <a:solidFill>
            <a:srgbClr val="0284C7">
              <a:alpha val="80000"/>
            </a:srgbClr>
          </a:solidFill>
          <a:ln w="10160">
            <a:solidFill>
              <a:srgbClr val="0B102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74536" y="1664208"/>
            <a:ext cx="530352" cy="530352"/>
          </a:xfrm>
          <a:prstGeom prst="rect">
            <a:avLst/>
          </a:prstGeom>
          <a:solidFill>
            <a:srgbClr val="7C3AED">
              <a:alpha val="80000"/>
            </a:srgbClr>
          </a:solidFill>
          <a:ln w="10160">
            <a:solidFill>
              <a:srgbClr val="0B10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104888" y="1664208"/>
            <a:ext cx="530352" cy="530352"/>
          </a:xfrm>
          <a:prstGeom prst="rect">
            <a:avLst/>
          </a:prstGeom>
          <a:solidFill>
            <a:srgbClr val="F59E0B">
              <a:alpha val="80000"/>
            </a:srgbClr>
          </a:solidFill>
          <a:ln w="10160">
            <a:solidFill>
              <a:srgbClr val="0B10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43400" y="2331720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S₂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983480" y="2194560"/>
            <a:ext cx="530352" cy="530352"/>
          </a:xfrm>
          <a:prstGeom prst="rect">
            <a:avLst/>
          </a:prstGeom>
          <a:solidFill>
            <a:srgbClr val="0F766E">
              <a:alpha val="80000"/>
            </a:srgbClr>
          </a:solidFill>
          <a:ln w="10160">
            <a:solidFill>
              <a:srgbClr val="0B102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13832" y="2194560"/>
            <a:ext cx="530352" cy="530352"/>
          </a:xfrm>
          <a:prstGeom prst="rect">
            <a:avLst/>
          </a:prstGeom>
          <a:solidFill>
            <a:srgbClr val="0284C7">
              <a:alpha val="80000"/>
            </a:srgbClr>
          </a:solidFill>
          <a:ln w="10160">
            <a:solidFill>
              <a:srgbClr val="0B102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44184" y="2194560"/>
            <a:ext cx="530352" cy="530352"/>
          </a:xfrm>
          <a:prstGeom prst="rect">
            <a:avLst/>
          </a:prstGeom>
          <a:solidFill>
            <a:srgbClr val="7C3AED">
              <a:alpha val="80000"/>
            </a:srgbClr>
          </a:solidFill>
          <a:ln w="10160">
            <a:solidFill>
              <a:srgbClr val="0B10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74536" y="2194560"/>
            <a:ext cx="530352" cy="530352"/>
          </a:xfrm>
          <a:prstGeom prst="rect">
            <a:avLst/>
          </a:prstGeom>
          <a:solidFill>
            <a:srgbClr val="F59E0B">
              <a:alpha val="80000"/>
            </a:srgbClr>
          </a:solidFill>
          <a:ln w="10160">
            <a:solidFill>
              <a:srgbClr val="0B10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04888" y="2194560"/>
            <a:ext cx="530352" cy="530352"/>
          </a:xfrm>
          <a:prstGeom prst="rect">
            <a:avLst/>
          </a:prstGeom>
          <a:solidFill>
            <a:srgbClr val="1E293B">
              <a:alpha val="95000"/>
            </a:srgbClr>
          </a:solidFill>
          <a:ln w="10160">
            <a:solidFill>
              <a:srgbClr val="0B10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43400" y="2862072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S₃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983480" y="2724912"/>
            <a:ext cx="530352" cy="530352"/>
          </a:xfrm>
          <a:prstGeom prst="rect">
            <a:avLst/>
          </a:prstGeom>
          <a:solidFill>
            <a:srgbClr val="0284C7">
              <a:alpha val="80000"/>
            </a:srgbClr>
          </a:solidFill>
          <a:ln w="10160">
            <a:solidFill>
              <a:srgbClr val="0B10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513832" y="2724912"/>
            <a:ext cx="530352" cy="530352"/>
          </a:xfrm>
          <a:prstGeom prst="rect">
            <a:avLst/>
          </a:prstGeom>
          <a:solidFill>
            <a:srgbClr val="7C3AED">
              <a:alpha val="80000"/>
            </a:srgbClr>
          </a:solidFill>
          <a:ln w="10160">
            <a:solidFill>
              <a:srgbClr val="0B102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44184" y="2724912"/>
            <a:ext cx="530352" cy="530352"/>
          </a:xfrm>
          <a:prstGeom prst="rect">
            <a:avLst/>
          </a:prstGeom>
          <a:solidFill>
            <a:srgbClr val="F59E0B">
              <a:alpha val="80000"/>
            </a:srgbClr>
          </a:solidFill>
          <a:ln w="10160">
            <a:solidFill>
              <a:srgbClr val="0B102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74536" y="2724912"/>
            <a:ext cx="530352" cy="530352"/>
          </a:xfrm>
          <a:prstGeom prst="rect">
            <a:avLst/>
          </a:prstGeom>
          <a:solidFill>
            <a:srgbClr val="1E293B">
              <a:alpha val="95000"/>
            </a:srgbClr>
          </a:solidFill>
          <a:ln w="10160">
            <a:solidFill>
              <a:srgbClr val="0B10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104888" y="2724912"/>
            <a:ext cx="530352" cy="530352"/>
          </a:xfrm>
          <a:prstGeom prst="rect">
            <a:avLst/>
          </a:prstGeom>
          <a:solidFill>
            <a:srgbClr val="0F766E">
              <a:alpha val="80000"/>
            </a:srgbClr>
          </a:solidFill>
          <a:ln w="10160">
            <a:solidFill>
              <a:srgbClr val="0B102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43400" y="3392424"/>
            <a:ext cx="411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S₄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983480" y="3255264"/>
            <a:ext cx="530352" cy="530352"/>
          </a:xfrm>
          <a:prstGeom prst="rect">
            <a:avLst/>
          </a:prstGeom>
          <a:solidFill>
            <a:srgbClr val="7C3AED">
              <a:alpha val="80000"/>
            </a:srgbClr>
          </a:solidFill>
          <a:ln w="10160">
            <a:solidFill>
              <a:srgbClr val="0B10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13832" y="3255264"/>
            <a:ext cx="530352" cy="530352"/>
          </a:xfrm>
          <a:prstGeom prst="rect">
            <a:avLst/>
          </a:prstGeom>
          <a:solidFill>
            <a:srgbClr val="F59E0B">
              <a:alpha val="80000"/>
            </a:srgbClr>
          </a:solidFill>
          <a:ln w="10160">
            <a:solidFill>
              <a:srgbClr val="0B102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044184" y="3255264"/>
            <a:ext cx="530352" cy="530352"/>
          </a:xfrm>
          <a:prstGeom prst="rect">
            <a:avLst/>
          </a:prstGeom>
          <a:solidFill>
            <a:srgbClr val="1E293B">
              <a:alpha val="95000"/>
            </a:srgbClr>
          </a:solidFill>
          <a:ln w="10160">
            <a:solidFill>
              <a:srgbClr val="0B102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574536" y="3255264"/>
            <a:ext cx="530352" cy="530352"/>
          </a:xfrm>
          <a:prstGeom prst="rect">
            <a:avLst/>
          </a:prstGeom>
          <a:solidFill>
            <a:srgbClr val="0F766E">
              <a:alpha val="80000"/>
            </a:srgbClr>
          </a:solidFill>
          <a:ln w="10160">
            <a:solidFill>
              <a:srgbClr val="0B102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04888" y="3255264"/>
            <a:ext cx="530352" cy="530352"/>
          </a:xfrm>
          <a:prstGeom prst="rect">
            <a:avLst/>
          </a:prstGeom>
          <a:solidFill>
            <a:srgbClr val="0284C7">
              <a:alpha val="80000"/>
            </a:srgbClr>
          </a:solidFill>
          <a:ln w="10160">
            <a:solidFill>
              <a:srgbClr val="0B102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183880" y="1481328"/>
            <a:ext cx="3108960" cy="132588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8183880" y="1481328"/>
            <a:ext cx="41148" cy="132588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48472" y="1609344"/>
            <a:ext cx="2816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代表性线索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348472" y="1920240"/>
            <a:ext cx="2816352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DQN 任务分配（2021）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Improved Q-learning 抗干扰（2021）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Q-learning-cover 三追一拦截（2025）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343400" y="3886200"/>
            <a:ext cx="6949440" cy="141732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43400" y="3886200"/>
            <a:ext cx="41148" cy="141732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07992" y="4014216"/>
            <a:ext cx="66568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方法边界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507992" y="4325112"/>
            <a:ext cx="6656832" cy="914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动作一旦转为连续控制，状态纳入姿态、速度、通信拓扑、威胁等级与时窗后，纯 Q-learning / DQN 容易出现维度爆炸、探索效率低与收敛不稳。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343400" y="5650992"/>
            <a:ext cx="69494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结论：值函数方法更适合“低维、离散、规则嵌入丰富”的子问题，尤其适合高层任务选择。</a:t>
            </a:r>
            <a:endParaRPr lang="en-US" sz="8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937760"/>
            <a:ext cx="2743200" cy="2743200"/>
          </a:xfrm>
          <a:prstGeom prst="ellipse">
            <a:avLst/>
          </a:prstGeom>
          <a:solidFill>
            <a:srgbClr val="7C3AED">
              <a:alpha val="1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典型方法分类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32004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策略梯度与演员—评论家：连续机动与在线控制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758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PPO / SAC / TD3 / DreamerV3 更适合连续动作与鲁棒泛化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914400" y="1417320"/>
            <a:ext cx="2194560" cy="109728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1417320"/>
            <a:ext cx="41148" cy="10972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8992" y="1545336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Actor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78992" y="1856232"/>
            <a:ext cx="190195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输出转向角、过载、航迹或干扰功率等连续动作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17720" y="1417320"/>
            <a:ext cx="2331720" cy="109728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17720" y="1417320"/>
            <a:ext cx="41148" cy="10972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1545336"/>
            <a:ext cx="2039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82312" y="1856232"/>
            <a:ext cx="203911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目标机动、风扰、噪声、部分观测与通信约束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412480" y="1417320"/>
            <a:ext cx="2240280" cy="109728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12480" y="1417320"/>
            <a:ext cx="41148" cy="1097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77072" y="1545336"/>
            <a:ext cx="1947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Critic / World Model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77072" y="1856232"/>
            <a:ext cx="1947672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估计价值函数或学习环境动态，提高样本利用率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154680" y="1965960"/>
            <a:ext cx="1371600" cy="0"/>
          </a:xfrm>
          <a:prstGeom prst="line">
            <a:avLst/>
          </a:prstGeom>
          <a:noFill/>
          <a:ln w="21590">
            <a:solidFill>
              <a:srgbClr val="38BDF8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22592" y="1965960"/>
            <a:ext cx="1280160" cy="0"/>
          </a:xfrm>
          <a:prstGeom prst="line">
            <a:avLst/>
          </a:prstGeom>
          <a:noFill/>
          <a:ln w="21590">
            <a:solidFill>
              <a:srgbClr val="A78BFA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601200" y="2514600"/>
            <a:ext cx="-7589520" cy="0"/>
          </a:xfrm>
          <a:prstGeom prst="line">
            <a:avLst/>
          </a:prstGeom>
          <a:noFill/>
          <a:ln w="21590">
            <a:solidFill>
              <a:srgbClr val="34D399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68680" y="3703320"/>
            <a:ext cx="3291840" cy="1261872"/>
          </a:xfrm>
          <a:prstGeom prst="roundRect">
            <a:avLst/>
          </a:prstGeom>
          <a:solidFill>
            <a:srgbClr val="172033">
              <a:alpha val="92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38679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783080" y="390448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PPO-TAGNA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033272" y="4416552"/>
            <a:ext cx="2971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地空对抗任务分配；多头注意力 + 阶段奖励改善训练效率。</a:t>
            </a:r>
            <a:endParaRPr lang="en-US" sz="810" dirty="0"/>
          </a:p>
        </p:txBody>
      </p:sp>
      <p:sp>
        <p:nvSpPr>
          <p:cNvPr id="30" name="Shape 28"/>
          <p:cNvSpPr/>
          <p:nvPr/>
        </p:nvSpPr>
        <p:spPr>
          <a:xfrm>
            <a:off x="4617720" y="3703320"/>
            <a:ext cx="3291840" cy="1261872"/>
          </a:xfrm>
          <a:prstGeom prst="roundRect">
            <a:avLst/>
          </a:prstGeom>
          <a:solidFill>
            <a:srgbClr val="172033">
              <a:alpha val="92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8679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532120" y="390448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PPO 突防决策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82312" y="4416552"/>
            <a:ext cx="2971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在不完全拦截信息下，优化高速固定翼无人机突防策略。</a:t>
            </a:r>
            <a:endParaRPr lang="en-US" sz="810" dirty="0"/>
          </a:p>
        </p:txBody>
      </p:sp>
      <p:sp>
        <p:nvSpPr>
          <p:cNvPr id="34" name="Shape 32"/>
          <p:cNvSpPr/>
          <p:nvPr/>
        </p:nvSpPr>
        <p:spPr>
          <a:xfrm>
            <a:off x="8366760" y="3703320"/>
            <a:ext cx="3291840" cy="1261872"/>
          </a:xfrm>
          <a:prstGeom prst="roundRect">
            <a:avLst/>
          </a:prstGeom>
          <a:solidFill>
            <a:srgbClr val="172033">
              <a:alpha val="92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03920" y="38679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9281160" y="390448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DreamerV3 / TQC / SAC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531352" y="4416552"/>
            <a:ext cx="297180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固定翼追击空域中，模型型 RL 在未见策略、风扰和传感器噪声下显示泛化优势。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868680" y="5486400"/>
            <a:ext cx="10744200" cy="621792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8680" y="5486400"/>
            <a:ext cx="41148" cy="62179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3272" y="5614416"/>
            <a:ext cx="104515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方法启示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33272" y="5925312"/>
            <a:ext cx="10451592" cy="118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算法性能并不只由“PPO / SAC / TD3 哪个更强”决定，更受奖励塑形、状态编码、高保真动力学和未见对手策略分布支配。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937760"/>
            <a:ext cx="2743200" cy="2743200"/>
          </a:xfrm>
          <a:prstGeom prst="ellipse">
            <a:avLst/>
          </a:prstGeom>
          <a:solidFill>
            <a:srgbClr val="7C3AED">
              <a:alpha val="1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典型方法分类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32004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多智能体与分层强化学习：系统组织主框架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758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从“多个 agent 一起学”走向通信、角色、层级与博弈建模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2011680" y="2011680"/>
            <a:ext cx="1188720" cy="91440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2011680"/>
            <a:ext cx="182880" cy="205740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2011680"/>
            <a:ext cx="2743200" cy="32004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011680" y="2011680"/>
            <a:ext cx="2880360" cy="196596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2926080"/>
            <a:ext cx="-1005840" cy="114300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2926080"/>
            <a:ext cx="1554480" cy="-59436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2926080"/>
            <a:ext cx="1691640" cy="105156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194560" y="4069080"/>
            <a:ext cx="2560320" cy="-173736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194560" y="4069080"/>
            <a:ext cx="2697480" cy="-9144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2331720"/>
            <a:ext cx="137160" cy="1645920"/>
          </a:xfrm>
          <a:prstGeom prst="line">
            <a:avLst/>
          </a:prstGeom>
          <a:noFill/>
          <a:ln w="10160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0" y="1828800"/>
            <a:ext cx="438912" cy="438912"/>
          </a:xfrm>
          <a:prstGeom prst="ellipse">
            <a:avLst/>
          </a:prstGeom>
          <a:solidFill>
            <a:srgbClr val="38BDF8">
              <a:alpha val="8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92808" y="194767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I₁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017520" y="2743200"/>
            <a:ext cx="438912" cy="438912"/>
          </a:xfrm>
          <a:prstGeom prst="ellipse">
            <a:avLst/>
          </a:prstGeom>
          <a:solidFill>
            <a:srgbClr val="38BDF8">
              <a:alpha val="8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81528" y="286207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I₂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011680" y="3886200"/>
            <a:ext cx="438912" cy="438912"/>
          </a:xfrm>
          <a:prstGeom prst="ellipse">
            <a:avLst/>
          </a:prstGeom>
          <a:solidFill>
            <a:srgbClr val="38BDF8">
              <a:alpha val="8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75688" y="400507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I₃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0" y="2148840"/>
            <a:ext cx="438912" cy="438912"/>
          </a:xfrm>
          <a:prstGeom prst="ellipse">
            <a:avLst/>
          </a:prstGeom>
          <a:solidFill>
            <a:srgbClr val="38BDF8">
              <a:alpha val="8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36008" y="22677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I₄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09160" y="3794760"/>
            <a:ext cx="438912" cy="438912"/>
          </a:xfrm>
          <a:prstGeom prst="ellipse">
            <a:avLst/>
          </a:prstGeom>
          <a:solidFill>
            <a:srgbClr val="38BDF8">
              <a:alpha val="8500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73168" y="391363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I₅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429000" y="3154680"/>
            <a:ext cx="566928" cy="566928"/>
          </a:xfrm>
          <a:prstGeom prst="ellipse">
            <a:avLst/>
          </a:prstGeom>
          <a:solidFill>
            <a:srgbClr val="F87171">
              <a:alpha val="95000"/>
            </a:srgbClr>
          </a:solidFill>
          <a:ln w="16510">
            <a:solidFill>
              <a:srgbClr val="F8717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93592" y="3310128"/>
            <a:ext cx="210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960120" y="4956048"/>
            <a:ext cx="52578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协同围捕 / 群体压制：通信质量、角色分工与局部观测决定策略效果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583680" y="1234440"/>
            <a:ext cx="4754880" cy="960120"/>
          </a:xfrm>
          <a:prstGeom prst="roundRect">
            <a:avLst/>
          </a:prstGeom>
          <a:solidFill>
            <a:srgbClr val="172033">
              <a:alpha val="92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20840" y="139903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498080" y="1435608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 / 图结构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748272" y="1947672"/>
            <a:ext cx="44348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适应敌我数量动态变化，压缩邻机观测与通信消息。</a:t>
            </a:r>
            <a:endParaRPr lang="en-US" sz="810" dirty="0"/>
          </a:p>
        </p:txBody>
      </p:sp>
      <p:sp>
        <p:nvSpPr>
          <p:cNvPr id="38" name="Shape 36"/>
          <p:cNvSpPr/>
          <p:nvPr/>
        </p:nvSpPr>
        <p:spPr>
          <a:xfrm>
            <a:off x="6583680" y="2468880"/>
            <a:ext cx="4754880" cy="960120"/>
          </a:xfrm>
          <a:prstGeom prst="roundRect">
            <a:avLst/>
          </a:prstGeom>
          <a:solidFill>
            <a:srgbClr val="172033">
              <a:alpha val="92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263347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498080" y="2670048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事件触发通信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6748272" y="3182112"/>
            <a:ext cx="44348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只在关键信息变化时通信，降低无效传输并逼近均衡。</a:t>
            </a:r>
            <a:endParaRPr lang="en-US" sz="810" dirty="0"/>
          </a:p>
        </p:txBody>
      </p:sp>
      <p:sp>
        <p:nvSpPr>
          <p:cNvPr id="42" name="Shape 40"/>
          <p:cNvSpPr/>
          <p:nvPr/>
        </p:nvSpPr>
        <p:spPr>
          <a:xfrm>
            <a:off x="6583680" y="3703320"/>
            <a:ext cx="4754880" cy="960120"/>
          </a:xfrm>
          <a:prstGeom prst="roundRect">
            <a:avLst/>
          </a:prstGeom>
          <a:solidFill>
            <a:srgbClr val="172033">
              <a:alpha val="92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38679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498080" y="3904488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Leader–Follower / HRL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748272" y="4416552"/>
            <a:ext cx="44348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宏观评估、动作角生成、底层控制分层解耦。</a:t>
            </a:r>
            <a:endParaRPr lang="en-US" sz="810" dirty="0"/>
          </a:p>
        </p:txBody>
      </p:sp>
      <p:sp>
        <p:nvSpPr>
          <p:cNvPr id="46" name="Shape 44"/>
          <p:cNvSpPr/>
          <p:nvPr/>
        </p:nvSpPr>
        <p:spPr>
          <a:xfrm>
            <a:off x="6583680" y="4937760"/>
            <a:ext cx="4754880" cy="960120"/>
          </a:xfrm>
          <a:prstGeom prst="roundRect">
            <a:avLst/>
          </a:prstGeom>
          <a:solidFill>
            <a:srgbClr val="172033">
              <a:alpha val="92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20840" y="510235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498080" y="5138928"/>
            <a:ext cx="3703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CTDE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6748272" y="5650992"/>
            <a:ext cx="4434840" cy="137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集中训练、分布执行：训练时看全局，部署时靠局部。</a:t>
            </a:r>
            <a:endParaRPr lang="en-US" sz="810" dirty="0"/>
          </a:p>
        </p:txBody>
      </p:sp>
      <p:sp>
        <p:nvSpPr>
          <p:cNvPr id="50" name="Text 48"/>
          <p:cNvSpPr/>
          <p:nvPr/>
        </p:nvSpPr>
        <p:spPr>
          <a:xfrm>
            <a:off x="777240" y="6236208"/>
            <a:ext cx="1078992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综述判断：MARL 是反无人机协同、博弈与群体压制的主流路线；HRL 正在整合“任务分配—航迹规划—底层控制”。</a:t>
            </a:r>
            <a:endParaRPr lang="en-US" sz="7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937760"/>
            <a:ext cx="2743200" cy="2743200"/>
          </a:xfrm>
          <a:prstGeom prst="ellipse">
            <a:avLst/>
          </a:prstGeom>
          <a:solidFill>
            <a:srgbClr val="7C3AED">
              <a:alpha val="1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典型方法分类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32004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模仿学习与逆强化学习：把专家战术转化为策略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758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适合“有经验、难公式化”的战术知识迁移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77240" y="1508760"/>
            <a:ext cx="2331720" cy="123444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1508760"/>
            <a:ext cx="41148" cy="1234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1636776"/>
            <a:ext cx="2039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专家轨迹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41832" y="1947672"/>
            <a:ext cx="20391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拦截机动 / 任务指派 / 电子压制经验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36392" y="2130552"/>
            <a:ext cx="402336" cy="0"/>
          </a:xfrm>
          <a:prstGeom prst="line">
            <a:avLst/>
          </a:prstGeom>
          <a:noFill/>
          <a:ln w="21590">
            <a:solidFill>
              <a:srgbClr val="94A3B8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57600" y="1508760"/>
            <a:ext cx="2331720" cy="123444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0" y="1508760"/>
            <a:ext cx="41148" cy="1234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1636776"/>
            <a:ext cx="2039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判别器 / 奖励推断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22192" y="1947672"/>
            <a:ext cx="20391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GAIL / AIRL 从行为中恢复隐含目标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016752" y="2130552"/>
            <a:ext cx="402336" cy="0"/>
          </a:xfrm>
          <a:prstGeom prst="line">
            <a:avLst/>
          </a:prstGeom>
          <a:noFill/>
          <a:ln w="21590">
            <a:solidFill>
              <a:srgbClr val="94A3B8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37960" y="1508760"/>
            <a:ext cx="2331720" cy="123444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37960" y="1508760"/>
            <a:ext cx="41148" cy="1234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02552" y="1636776"/>
            <a:ext cx="2039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策略学习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02552" y="1947672"/>
            <a:ext cx="20391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减少手工奖励依赖，提升早期训练效率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897112" y="2130552"/>
            <a:ext cx="402336" cy="0"/>
          </a:xfrm>
          <a:prstGeom prst="line">
            <a:avLst/>
          </a:prstGeom>
          <a:noFill/>
          <a:ln w="21590">
            <a:solidFill>
              <a:srgbClr val="94A3B8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418320" y="1508760"/>
            <a:ext cx="2331720" cy="123444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18320" y="1508760"/>
            <a:ext cx="41148" cy="1234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582912" y="1636776"/>
            <a:ext cx="2039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自主执行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582912" y="1947672"/>
            <a:ext cx="203911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在约束包线内选择可解释行动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77240" y="3749040"/>
            <a:ext cx="5212080" cy="150876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7240" y="3749040"/>
            <a:ext cx="41148" cy="15087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1832" y="3877056"/>
            <a:ext cx="49194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代表工作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41832" y="4187952"/>
            <a:ext cx="491947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Autonomous UAV Interception via Augmented Adversarial Inverse Reinforcement Learning（2022）：以 GAIL 学习拦截策略，结合专家数据增强与语义条件，降低手工奖励设计负担。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63640" y="3749040"/>
            <a:ext cx="5074920" cy="150876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63640" y="3749040"/>
            <a:ext cx="41148" cy="150876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3877056"/>
            <a:ext cx="47823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适用边界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428232" y="4187952"/>
            <a:ext cx="4782312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专家数据覆盖不足会导致策略外推风险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专家行为可能隐含场景偏差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仍需安全约束、规则包线和人机协同授权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22960" y="5897880"/>
            <a:ext cx="106070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定位：模仿学习并非替代 RL，而是为高风险反无人机任务提供先验、初始化与奖励学习入口。</a:t>
            </a:r>
            <a:endParaRPr lang="en-US" sz="8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937760"/>
            <a:ext cx="2743200" cy="2743200"/>
          </a:xfrm>
          <a:prstGeom prst="ellipse">
            <a:avLst/>
          </a:prstGeom>
          <a:solidFill>
            <a:srgbClr val="7C3AED">
              <a:alpha val="1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Sim-to-Real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32004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Sim-to-Real：从“仿真可用”走向“工程可部署”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758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误差注入、课程迁移、硬件在环是当前最现实路径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94360" y="1417320"/>
            <a:ext cx="1874520" cy="1298448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417320"/>
            <a:ext cx="41148" cy="129844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1545336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简化环境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" y="1856232"/>
            <a:ext cx="15819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高速采样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验证策略雏形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496312" y="2057400"/>
            <a:ext cx="356616" cy="0"/>
          </a:xfrm>
          <a:prstGeom prst="line">
            <a:avLst/>
          </a:prstGeom>
          <a:noFill/>
          <a:ln w="21590">
            <a:solidFill>
              <a:srgbClr val="94A3B8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926080" y="1417320"/>
            <a:ext cx="1874520" cy="1298448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926080" y="1417320"/>
            <a:ext cx="41148" cy="1298448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90672" y="1545336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高保真仿真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90672" y="1856232"/>
            <a:ext cx="15819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动力学 / 视觉 / 传感器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AirSim / UE / PX4 / ROS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28032" y="2057400"/>
            <a:ext cx="356616" cy="0"/>
          </a:xfrm>
          <a:prstGeom prst="line">
            <a:avLst/>
          </a:prstGeom>
          <a:noFill/>
          <a:ln w="21590">
            <a:solidFill>
              <a:srgbClr val="94A3B8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257800" y="1417320"/>
            <a:ext cx="1874520" cy="1298448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57800" y="1417320"/>
            <a:ext cx="41148" cy="12984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22392" y="1545336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误差注入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22392" y="1856232"/>
            <a:ext cx="15819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风扰、雷达误差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延迟、丢包、噪声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159752" y="2057400"/>
            <a:ext cx="356616" cy="0"/>
          </a:xfrm>
          <a:prstGeom prst="line">
            <a:avLst/>
          </a:prstGeom>
          <a:noFill/>
          <a:ln w="21590">
            <a:solidFill>
              <a:srgbClr val="94A3B8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589520" y="1417320"/>
            <a:ext cx="1874520" cy="1298448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0" y="1417320"/>
            <a:ext cx="41148" cy="129844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54112" y="1545336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HIL / 半实物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54112" y="1856232"/>
            <a:ext cx="15819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真实控制器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混合验证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9491472" y="2057400"/>
            <a:ext cx="356616" cy="0"/>
          </a:xfrm>
          <a:prstGeom prst="line">
            <a:avLst/>
          </a:prstGeom>
          <a:noFill/>
          <a:ln w="21590">
            <a:solidFill>
              <a:srgbClr val="94A3B8">
                <a:alpha val="90000"/>
              </a:srgbClr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921240" y="1417320"/>
            <a:ext cx="1874520" cy="1298448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921240" y="1417320"/>
            <a:ext cx="41148" cy="1298448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85832" y="1545336"/>
            <a:ext cx="1581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实机部署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085832" y="1856232"/>
            <a:ext cx="1581912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安全包线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人类授权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822960" y="3886200"/>
            <a:ext cx="3291840" cy="160020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2960" y="3886200"/>
            <a:ext cx="41148" cy="16002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7552" y="401421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关键技术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87552" y="4325112"/>
            <a:ext cx="299923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Domain Randomization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Curriculum Transfer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Dynamics Identification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Safety Shield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572000" y="3886200"/>
            <a:ext cx="3291840" cy="160020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0" y="3886200"/>
            <a:ext cx="41148" cy="1600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401421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验证内容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36592" y="4325112"/>
            <a:ext cx="299923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未见目标机动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风场与传感器噪声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通信丢包与延迟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法规与误伤边界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8321040" y="3886200"/>
            <a:ext cx="3291840" cy="160020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21040" y="3886200"/>
            <a:ext cx="41148" cy="16002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485632" y="4014216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典型启示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485632" y="4325112"/>
            <a:ext cx="2999232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GNSS 欺骗工作显式建模雷达误差并进入飞行测试；Q-learning-cover 等开始引入硬件在环。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22960" y="5989320"/>
            <a:ext cx="10515600" cy="246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工程标准：不是仿真胜率，而是跨场景泛化、失效模式、实机/半实物转化率与安全可审计性。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937760"/>
            <a:ext cx="2743200" cy="2743200"/>
          </a:xfrm>
          <a:prstGeom prst="ellipse">
            <a:avLst/>
          </a:prstGeom>
          <a:solidFill>
            <a:srgbClr val="7C3AED">
              <a:alpha val="1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任务划分与应用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32004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反无人机任务链中的 RL 应用位置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758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更像系统级调度器与自适应决策模块，而不是单纯检测器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31520" y="1234440"/>
            <a:ext cx="10789920" cy="932688"/>
          </a:xfrm>
          <a:prstGeom prst="roundRect">
            <a:avLst/>
          </a:prstGeom>
          <a:solidFill>
            <a:srgbClr val="172033"/>
          </a:solidFill>
          <a:ln w="1143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52704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探测与识别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16352" y="1435608"/>
            <a:ext cx="6309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主动感知：阈值、扫视、视角切换、PTZ 控制、跟踪丢失恢复</a:t>
            </a:r>
            <a:endParaRPr lang="en-US" sz="870" dirty="0"/>
          </a:p>
        </p:txBody>
      </p:sp>
      <p:sp>
        <p:nvSpPr>
          <p:cNvPr id="14" name="Shape 12"/>
          <p:cNvSpPr/>
          <p:nvPr/>
        </p:nvSpPr>
        <p:spPr>
          <a:xfrm>
            <a:off x="9400032" y="1508760"/>
            <a:ext cx="1645920" cy="347472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73184" y="1572768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控制“如何看”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>
            <a:off x="731520" y="2468880"/>
            <a:ext cx="10789920" cy="932688"/>
          </a:xfrm>
          <a:prstGeom prst="roundRect">
            <a:avLst/>
          </a:prstGeom>
          <a:solidFill>
            <a:srgbClr val="0F172A"/>
          </a:solidFill>
          <a:ln w="1143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276148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 / 拦截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16352" y="2670048"/>
            <a:ext cx="6309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任务分配、轨迹规划、连续机动、三维追逃、伴飞拦截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9400032" y="2743200"/>
            <a:ext cx="1645920" cy="347472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73184" y="2807208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优势最明显</a:t>
            </a:r>
            <a:endParaRPr lang="en-US" sz="830" dirty="0"/>
          </a:p>
        </p:txBody>
      </p:sp>
      <p:sp>
        <p:nvSpPr>
          <p:cNvPr id="21" name="Shape 19"/>
          <p:cNvSpPr/>
          <p:nvPr/>
        </p:nvSpPr>
        <p:spPr>
          <a:xfrm>
            <a:off x="731520" y="3703320"/>
            <a:ext cx="10789920" cy="932688"/>
          </a:xfrm>
          <a:prstGeom prst="roundRect">
            <a:avLst/>
          </a:prstGeom>
          <a:solidFill>
            <a:srgbClr val="172033"/>
          </a:solidFill>
          <a:ln w="1143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399592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协同 / 博弈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16352" y="3904488"/>
            <a:ext cx="6309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多拦截体围捕、集群压制、通信受限协同、角色异构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9400032" y="3977640"/>
            <a:ext cx="1645920" cy="347472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73184" y="4041648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MARL 主阵地</a:t>
            </a:r>
            <a:endParaRPr lang="en-US" sz="830" dirty="0"/>
          </a:p>
        </p:txBody>
      </p:sp>
      <p:sp>
        <p:nvSpPr>
          <p:cNvPr id="26" name="Shape 24"/>
          <p:cNvSpPr/>
          <p:nvPr/>
        </p:nvSpPr>
        <p:spPr>
          <a:xfrm>
            <a:off x="731520" y="4937760"/>
            <a:ext cx="10789920" cy="932688"/>
          </a:xfrm>
          <a:prstGeom prst="roundRect">
            <a:avLst/>
          </a:prstGeom>
          <a:solidFill>
            <a:srgbClr val="0F172A"/>
          </a:solidFill>
          <a:ln w="1143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23036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电子干扰 / 软杀伤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816352" y="5138928"/>
            <a:ext cx="63093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频点选择、功率分配、GNSS 欺骗、协同压制、误伤约束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9400032" y="5212080"/>
            <a:ext cx="1645920" cy="347472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BBF24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73184" y="5276088"/>
            <a:ext cx="14996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Markov 博弈 + 安全约束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868680" y="5632704"/>
            <a:ext cx="10561320" cy="530352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8680" y="5632704"/>
            <a:ext cx="41148" cy="53035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33272" y="5760720"/>
            <a:ext cx="102687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总体判断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1033272" y="6071616"/>
            <a:ext cx="10268712" cy="274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在感知层，RL 主要负责“主动感知控制”；在决策 / 拦截 / 电子对抗层，RL 负责长期回报、连续动作和策略博弈。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937760"/>
            <a:ext cx="2743200" cy="2743200"/>
          </a:xfrm>
          <a:prstGeom prst="ellipse">
            <a:avLst/>
          </a:prstGeom>
          <a:solidFill>
            <a:srgbClr val="7C3AED">
              <a:alpha val="1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代表性工作对比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32004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代表性工作对比：从可行性验证到系统化组织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758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按任务、方法、贡献与局限做横向归纳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411480" y="1051560"/>
            <a:ext cx="910742" cy="393192"/>
          </a:xfrm>
          <a:prstGeom prst="rect">
            <a:avLst/>
          </a:prstGeom>
          <a:solidFill>
            <a:srgbClr val="0EA5E9">
              <a:alpha val="85000"/>
            </a:srgbClr>
          </a:solidFill>
          <a:ln w="635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124712"/>
            <a:ext cx="819302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年份</a:t>
            </a:r>
            <a:endParaRPr lang="en-US" sz="715" dirty="0"/>
          </a:p>
        </p:txBody>
      </p:sp>
      <p:sp>
        <p:nvSpPr>
          <p:cNvPr id="13" name="Shape 11"/>
          <p:cNvSpPr/>
          <p:nvPr/>
        </p:nvSpPr>
        <p:spPr>
          <a:xfrm>
            <a:off x="1322222" y="1051560"/>
            <a:ext cx="3073756" cy="393192"/>
          </a:xfrm>
          <a:prstGeom prst="rect">
            <a:avLst/>
          </a:prstGeom>
          <a:solidFill>
            <a:srgbClr val="0EA5E9">
              <a:alpha val="85000"/>
            </a:srgbClr>
          </a:solidFill>
          <a:ln w="635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67942" y="1124712"/>
            <a:ext cx="2982316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代表方向 / 工作</a:t>
            </a:r>
            <a:endParaRPr lang="en-US" sz="715" dirty="0"/>
          </a:p>
        </p:txBody>
      </p:sp>
      <p:sp>
        <p:nvSpPr>
          <p:cNvPr id="15" name="Shape 13"/>
          <p:cNvSpPr/>
          <p:nvPr/>
        </p:nvSpPr>
        <p:spPr>
          <a:xfrm>
            <a:off x="4395978" y="1051560"/>
            <a:ext cx="2163013" cy="393192"/>
          </a:xfrm>
          <a:prstGeom prst="rect">
            <a:avLst/>
          </a:prstGeom>
          <a:solidFill>
            <a:srgbClr val="0EA5E9">
              <a:alpha val="85000"/>
            </a:srgbClr>
          </a:solidFill>
          <a:ln w="635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41698" y="1124712"/>
            <a:ext cx="2071573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715" dirty="0"/>
          </a:p>
        </p:txBody>
      </p:sp>
      <p:sp>
        <p:nvSpPr>
          <p:cNvPr id="17" name="Shape 15"/>
          <p:cNvSpPr/>
          <p:nvPr/>
        </p:nvSpPr>
        <p:spPr>
          <a:xfrm>
            <a:off x="6558991" y="1051560"/>
            <a:ext cx="2504542" cy="393192"/>
          </a:xfrm>
          <a:prstGeom prst="rect">
            <a:avLst/>
          </a:prstGeom>
          <a:solidFill>
            <a:srgbClr val="0EA5E9">
              <a:alpha val="85000"/>
            </a:srgbClr>
          </a:solidFill>
          <a:ln w="635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04711" y="1124712"/>
            <a:ext cx="2413102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任务场景</a:t>
            </a:r>
            <a:endParaRPr lang="en-US" sz="715" dirty="0"/>
          </a:p>
        </p:txBody>
      </p:sp>
      <p:sp>
        <p:nvSpPr>
          <p:cNvPr id="19" name="Shape 17"/>
          <p:cNvSpPr/>
          <p:nvPr/>
        </p:nvSpPr>
        <p:spPr>
          <a:xfrm>
            <a:off x="9063533" y="1051560"/>
            <a:ext cx="2732227" cy="393192"/>
          </a:xfrm>
          <a:prstGeom prst="rect">
            <a:avLst/>
          </a:prstGeom>
          <a:solidFill>
            <a:srgbClr val="0EA5E9">
              <a:alpha val="85000"/>
            </a:srgbClr>
          </a:solidFill>
          <a:ln w="6350">
            <a:solidFill>
              <a:srgbClr val="38BDF8">
                <a:alpha val="5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09253" y="1124712"/>
            <a:ext cx="2640787" cy="301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1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主要启示</a:t>
            </a:r>
            <a:endParaRPr lang="en-US" sz="715" dirty="0"/>
          </a:p>
        </p:txBody>
      </p:sp>
      <p:sp>
        <p:nvSpPr>
          <p:cNvPr id="21" name="Shape 19"/>
          <p:cNvSpPr/>
          <p:nvPr/>
        </p:nvSpPr>
        <p:spPr>
          <a:xfrm>
            <a:off x="411480" y="1444752"/>
            <a:ext cx="910742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" y="1499616"/>
            <a:ext cx="83759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2021</a:t>
            </a:r>
            <a:endParaRPr lang="en-US" sz="675" dirty="0"/>
          </a:p>
        </p:txBody>
      </p:sp>
      <p:sp>
        <p:nvSpPr>
          <p:cNvPr id="23" name="Shape 21"/>
          <p:cNvSpPr/>
          <p:nvPr/>
        </p:nvSpPr>
        <p:spPr>
          <a:xfrm>
            <a:off x="1322222" y="1444752"/>
            <a:ext cx="3073756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58798" y="1499616"/>
            <a:ext cx="3000604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多类型拦截装备复合式任务分配</a:t>
            </a:r>
            <a:endParaRPr lang="en-US" sz="655" dirty="0"/>
          </a:p>
        </p:txBody>
      </p:sp>
      <p:sp>
        <p:nvSpPr>
          <p:cNvPr id="25" name="Shape 23"/>
          <p:cNvSpPr/>
          <p:nvPr/>
        </p:nvSpPr>
        <p:spPr>
          <a:xfrm>
            <a:off x="4395978" y="1444752"/>
            <a:ext cx="2163013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32554" y="1499616"/>
            <a:ext cx="2089861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DQN</a:t>
            </a:r>
            <a:endParaRPr lang="en-US" sz="655" dirty="0"/>
          </a:p>
        </p:txBody>
      </p:sp>
      <p:sp>
        <p:nvSpPr>
          <p:cNvPr id="27" name="Shape 25"/>
          <p:cNvSpPr/>
          <p:nvPr/>
        </p:nvSpPr>
        <p:spPr>
          <a:xfrm>
            <a:off x="6558991" y="1444752"/>
            <a:ext cx="2504542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95567" y="1499616"/>
            <a:ext cx="243139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离散装备 / 目标指派</a:t>
            </a:r>
            <a:endParaRPr lang="en-US" sz="655" dirty="0"/>
          </a:p>
        </p:txBody>
      </p:sp>
      <p:sp>
        <p:nvSpPr>
          <p:cNvPr id="29" name="Shape 27"/>
          <p:cNvSpPr/>
          <p:nvPr/>
        </p:nvSpPr>
        <p:spPr>
          <a:xfrm>
            <a:off x="9063533" y="1444752"/>
            <a:ext cx="2732227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00109" y="1499616"/>
            <a:ext cx="2659075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值函数适合高层离散决策</a:t>
            </a:r>
            <a:endParaRPr lang="en-US" sz="655" dirty="0"/>
          </a:p>
        </p:txBody>
      </p:sp>
      <p:sp>
        <p:nvSpPr>
          <p:cNvPr id="31" name="Shape 29"/>
          <p:cNvSpPr/>
          <p:nvPr/>
        </p:nvSpPr>
        <p:spPr>
          <a:xfrm>
            <a:off x="411480" y="1947672"/>
            <a:ext cx="910742" cy="502920"/>
          </a:xfrm>
          <a:prstGeom prst="rect">
            <a:avLst/>
          </a:prstGeom>
          <a:solidFill>
            <a:srgbClr val="0F172A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" y="2002536"/>
            <a:ext cx="83759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</a:t>
            </a:r>
            <a:endParaRPr lang="en-US" sz="675" dirty="0"/>
          </a:p>
        </p:txBody>
      </p:sp>
      <p:sp>
        <p:nvSpPr>
          <p:cNvPr id="33" name="Shape 31"/>
          <p:cNvSpPr/>
          <p:nvPr/>
        </p:nvSpPr>
        <p:spPr>
          <a:xfrm>
            <a:off x="1322222" y="1947672"/>
            <a:ext cx="3073756" cy="502920"/>
          </a:xfrm>
          <a:prstGeom prst="rect">
            <a:avLst/>
          </a:prstGeom>
          <a:solidFill>
            <a:srgbClr val="0F172A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58798" y="2002536"/>
            <a:ext cx="3000604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Self-attention MADDPG 反无人机策略</a:t>
            </a:r>
            <a:endParaRPr lang="en-US" sz="655" dirty="0"/>
          </a:p>
        </p:txBody>
      </p:sp>
      <p:sp>
        <p:nvSpPr>
          <p:cNvPr id="35" name="Shape 33"/>
          <p:cNvSpPr/>
          <p:nvPr/>
        </p:nvSpPr>
        <p:spPr>
          <a:xfrm>
            <a:off x="4395978" y="1947672"/>
            <a:ext cx="2163013" cy="502920"/>
          </a:xfrm>
          <a:prstGeom prst="rect">
            <a:avLst/>
          </a:prstGeom>
          <a:solidFill>
            <a:srgbClr val="0F172A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432554" y="2002536"/>
            <a:ext cx="2089861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MARL + 注意力</a:t>
            </a:r>
            <a:endParaRPr lang="en-US" sz="655" dirty="0"/>
          </a:p>
        </p:txBody>
      </p:sp>
      <p:sp>
        <p:nvSpPr>
          <p:cNvPr id="37" name="Shape 35"/>
          <p:cNvSpPr/>
          <p:nvPr/>
        </p:nvSpPr>
        <p:spPr>
          <a:xfrm>
            <a:off x="6558991" y="1947672"/>
            <a:ext cx="2504542" cy="502920"/>
          </a:xfrm>
          <a:prstGeom prst="rect">
            <a:avLst/>
          </a:prstGeom>
          <a:solidFill>
            <a:srgbClr val="0F172A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95567" y="2002536"/>
            <a:ext cx="243139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敌我数量动态变化</a:t>
            </a:r>
            <a:endParaRPr lang="en-US" sz="655" dirty="0"/>
          </a:p>
        </p:txBody>
      </p:sp>
      <p:sp>
        <p:nvSpPr>
          <p:cNvPr id="39" name="Shape 37"/>
          <p:cNvSpPr/>
          <p:nvPr/>
        </p:nvSpPr>
        <p:spPr>
          <a:xfrm>
            <a:off x="9063533" y="1947672"/>
            <a:ext cx="2732227" cy="502920"/>
          </a:xfrm>
          <a:prstGeom prst="rect">
            <a:avLst/>
          </a:prstGeom>
          <a:solidFill>
            <a:srgbClr val="0F172A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100109" y="2002536"/>
            <a:ext cx="2659075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注意力提升多主体适应性</a:t>
            </a:r>
            <a:endParaRPr lang="en-US" sz="655" dirty="0"/>
          </a:p>
        </p:txBody>
      </p:sp>
      <p:sp>
        <p:nvSpPr>
          <p:cNvPr id="41" name="Shape 39"/>
          <p:cNvSpPr/>
          <p:nvPr/>
        </p:nvSpPr>
        <p:spPr>
          <a:xfrm>
            <a:off x="411480" y="2450592"/>
            <a:ext cx="910742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48056" y="2505456"/>
            <a:ext cx="83759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2022</a:t>
            </a:r>
            <a:endParaRPr lang="en-US" sz="675" dirty="0"/>
          </a:p>
        </p:txBody>
      </p:sp>
      <p:sp>
        <p:nvSpPr>
          <p:cNvPr id="43" name="Shape 41"/>
          <p:cNvSpPr/>
          <p:nvPr/>
        </p:nvSpPr>
        <p:spPr>
          <a:xfrm>
            <a:off x="1322222" y="2450592"/>
            <a:ext cx="3073756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58798" y="2505456"/>
            <a:ext cx="3000604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Augmented Adversarial IRL 拦截</a:t>
            </a:r>
            <a:endParaRPr lang="en-US" sz="655" dirty="0"/>
          </a:p>
        </p:txBody>
      </p:sp>
      <p:sp>
        <p:nvSpPr>
          <p:cNvPr id="45" name="Shape 43"/>
          <p:cNvSpPr/>
          <p:nvPr/>
        </p:nvSpPr>
        <p:spPr>
          <a:xfrm>
            <a:off x="4395978" y="2450592"/>
            <a:ext cx="2163013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32554" y="2505456"/>
            <a:ext cx="2089861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GAIL / IRL</a:t>
            </a:r>
            <a:endParaRPr lang="en-US" sz="655" dirty="0"/>
          </a:p>
        </p:txBody>
      </p:sp>
      <p:sp>
        <p:nvSpPr>
          <p:cNvPr id="47" name="Shape 45"/>
          <p:cNvSpPr/>
          <p:nvPr/>
        </p:nvSpPr>
        <p:spPr>
          <a:xfrm>
            <a:off x="6558991" y="2450592"/>
            <a:ext cx="2504542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95567" y="2505456"/>
            <a:ext cx="243139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自主拦截策略学习</a:t>
            </a:r>
            <a:endParaRPr lang="en-US" sz="655" dirty="0"/>
          </a:p>
        </p:txBody>
      </p:sp>
      <p:sp>
        <p:nvSpPr>
          <p:cNvPr id="49" name="Shape 47"/>
          <p:cNvSpPr/>
          <p:nvPr/>
        </p:nvSpPr>
        <p:spPr>
          <a:xfrm>
            <a:off x="9063533" y="2450592"/>
            <a:ext cx="2732227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00109" y="2505456"/>
            <a:ext cx="2659075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专家战术可迁移为策略先验</a:t>
            </a:r>
            <a:endParaRPr lang="en-US" sz="655" dirty="0"/>
          </a:p>
        </p:txBody>
      </p:sp>
      <p:sp>
        <p:nvSpPr>
          <p:cNvPr id="51" name="Shape 49"/>
          <p:cNvSpPr/>
          <p:nvPr/>
        </p:nvSpPr>
        <p:spPr>
          <a:xfrm>
            <a:off x="411480" y="2953512"/>
            <a:ext cx="910742" cy="502920"/>
          </a:xfrm>
          <a:prstGeom prst="rect">
            <a:avLst/>
          </a:prstGeom>
          <a:solidFill>
            <a:srgbClr val="0F172A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8056" y="3008376"/>
            <a:ext cx="83759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</a:t>
            </a:r>
            <a:endParaRPr lang="en-US" sz="675" dirty="0"/>
          </a:p>
        </p:txBody>
      </p:sp>
      <p:sp>
        <p:nvSpPr>
          <p:cNvPr id="53" name="Shape 51"/>
          <p:cNvSpPr/>
          <p:nvPr/>
        </p:nvSpPr>
        <p:spPr>
          <a:xfrm>
            <a:off x="1322222" y="2953512"/>
            <a:ext cx="3073756" cy="502920"/>
          </a:xfrm>
          <a:prstGeom prst="rect">
            <a:avLst/>
          </a:prstGeom>
          <a:solidFill>
            <a:srgbClr val="0F172A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58798" y="3008376"/>
            <a:ext cx="3000604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PPO-TAGNA 地空对抗任务分配</a:t>
            </a:r>
            <a:endParaRPr lang="en-US" sz="655" dirty="0"/>
          </a:p>
        </p:txBody>
      </p:sp>
      <p:sp>
        <p:nvSpPr>
          <p:cNvPr id="55" name="Shape 53"/>
          <p:cNvSpPr/>
          <p:nvPr/>
        </p:nvSpPr>
        <p:spPr>
          <a:xfrm>
            <a:off x="4395978" y="2953512"/>
            <a:ext cx="2163013" cy="502920"/>
          </a:xfrm>
          <a:prstGeom prst="rect">
            <a:avLst/>
          </a:prstGeom>
          <a:solidFill>
            <a:srgbClr val="0F172A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32554" y="3008376"/>
            <a:ext cx="2089861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MAPPO / PPO</a:t>
            </a:r>
            <a:endParaRPr lang="en-US" sz="655" dirty="0"/>
          </a:p>
        </p:txBody>
      </p:sp>
      <p:sp>
        <p:nvSpPr>
          <p:cNvPr id="57" name="Shape 55"/>
          <p:cNvSpPr/>
          <p:nvPr/>
        </p:nvSpPr>
        <p:spPr>
          <a:xfrm>
            <a:off x="6558991" y="2953512"/>
            <a:ext cx="2504542" cy="502920"/>
          </a:xfrm>
          <a:prstGeom prst="rect">
            <a:avLst/>
          </a:prstGeom>
          <a:solidFill>
            <a:srgbClr val="0F172A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95567" y="3008376"/>
            <a:ext cx="243139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数字战场任务分配</a:t>
            </a:r>
            <a:endParaRPr lang="en-US" sz="655" dirty="0"/>
          </a:p>
        </p:txBody>
      </p:sp>
      <p:sp>
        <p:nvSpPr>
          <p:cNvPr id="59" name="Shape 57"/>
          <p:cNvSpPr/>
          <p:nvPr/>
        </p:nvSpPr>
        <p:spPr>
          <a:xfrm>
            <a:off x="9063533" y="2953512"/>
            <a:ext cx="2732227" cy="502920"/>
          </a:xfrm>
          <a:prstGeom prst="rect">
            <a:avLst/>
          </a:prstGeom>
          <a:solidFill>
            <a:srgbClr val="0F172A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100109" y="3008376"/>
            <a:ext cx="2659075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阶段奖励 + 注意力改善训练</a:t>
            </a:r>
            <a:endParaRPr lang="en-US" sz="655" dirty="0"/>
          </a:p>
        </p:txBody>
      </p:sp>
      <p:sp>
        <p:nvSpPr>
          <p:cNvPr id="61" name="Shape 59"/>
          <p:cNvSpPr/>
          <p:nvPr/>
        </p:nvSpPr>
        <p:spPr>
          <a:xfrm>
            <a:off x="411480" y="3456432"/>
            <a:ext cx="910742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" y="3511296"/>
            <a:ext cx="83759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2023</a:t>
            </a:r>
            <a:endParaRPr lang="en-US" sz="675" dirty="0"/>
          </a:p>
        </p:txBody>
      </p:sp>
      <p:sp>
        <p:nvSpPr>
          <p:cNvPr id="63" name="Shape 61"/>
          <p:cNvSpPr/>
          <p:nvPr/>
        </p:nvSpPr>
        <p:spPr>
          <a:xfrm>
            <a:off x="1322222" y="3456432"/>
            <a:ext cx="3073756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358798" y="3511296"/>
            <a:ext cx="3000604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ETMAPPO 反无人机干扰 Markov 博弈</a:t>
            </a:r>
            <a:endParaRPr lang="en-US" sz="655" dirty="0"/>
          </a:p>
        </p:txBody>
      </p:sp>
      <p:sp>
        <p:nvSpPr>
          <p:cNvPr id="65" name="Shape 63"/>
          <p:cNvSpPr/>
          <p:nvPr/>
        </p:nvSpPr>
        <p:spPr>
          <a:xfrm>
            <a:off x="4395978" y="3456432"/>
            <a:ext cx="2163013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4432554" y="3511296"/>
            <a:ext cx="2089861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事件触发 MARL</a:t>
            </a:r>
            <a:endParaRPr lang="en-US" sz="655" dirty="0"/>
          </a:p>
        </p:txBody>
      </p:sp>
      <p:sp>
        <p:nvSpPr>
          <p:cNvPr id="67" name="Shape 65"/>
          <p:cNvSpPr/>
          <p:nvPr/>
        </p:nvSpPr>
        <p:spPr>
          <a:xfrm>
            <a:off x="6558991" y="3456432"/>
            <a:ext cx="2504542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95567" y="3511296"/>
            <a:ext cx="243139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干扰机 vs 地面用户</a:t>
            </a:r>
            <a:endParaRPr lang="en-US" sz="655" dirty="0"/>
          </a:p>
        </p:txBody>
      </p:sp>
      <p:sp>
        <p:nvSpPr>
          <p:cNvPr id="69" name="Shape 67"/>
          <p:cNvSpPr/>
          <p:nvPr/>
        </p:nvSpPr>
        <p:spPr>
          <a:xfrm>
            <a:off x="9063533" y="3456432"/>
            <a:ext cx="2732227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100109" y="3511296"/>
            <a:ext cx="2659075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通信受限与博弈建模成为核心</a:t>
            </a:r>
            <a:endParaRPr lang="en-US" sz="655" dirty="0"/>
          </a:p>
        </p:txBody>
      </p:sp>
      <p:sp>
        <p:nvSpPr>
          <p:cNvPr id="71" name="Shape 69"/>
          <p:cNvSpPr/>
          <p:nvPr/>
        </p:nvSpPr>
        <p:spPr>
          <a:xfrm>
            <a:off x="411480" y="3959352"/>
            <a:ext cx="910742" cy="502920"/>
          </a:xfrm>
          <a:prstGeom prst="rect">
            <a:avLst/>
          </a:prstGeom>
          <a:solidFill>
            <a:srgbClr val="0F172A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48056" y="4014216"/>
            <a:ext cx="83759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en-US" sz="675" dirty="0"/>
          </a:p>
        </p:txBody>
      </p:sp>
      <p:sp>
        <p:nvSpPr>
          <p:cNvPr id="73" name="Shape 71"/>
          <p:cNvSpPr/>
          <p:nvPr/>
        </p:nvSpPr>
        <p:spPr>
          <a:xfrm>
            <a:off x="1322222" y="3959352"/>
            <a:ext cx="3073756" cy="502920"/>
          </a:xfrm>
          <a:prstGeom prst="rect">
            <a:avLst/>
          </a:prstGeom>
          <a:solidFill>
            <a:srgbClr val="0F172A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358798" y="4014216"/>
            <a:ext cx="3000604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RL-GNSS 欺骗固定翼反制</a:t>
            </a:r>
            <a:endParaRPr lang="en-US" sz="655" dirty="0"/>
          </a:p>
        </p:txBody>
      </p:sp>
      <p:sp>
        <p:nvSpPr>
          <p:cNvPr id="75" name="Shape 73"/>
          <p:cNvSpPr/>
          <p:nvPr/>
        </p:nvSpPr>
        <p:spPr>
          <a:xfrm>
            <a:off x="4395978" y="3959352"/>
            <a:ext cx="2163013" cy="502920"/>
          </a:xfrm>
          <a:prstGeom prst="rect">
            <a:avLst/>
          </a:prstGeom>
          <a:solidFill>
            <a:srgbClr val="0F172A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432554" y="4014216"/>
            <a:ext cx="2089861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 + 误差建模</a:t>
            </a:r>
            <a:endParaRPr lang="en-US" sz="655" dirty="0"/>
          </a:p>
        </p:txBody>
      </p:sp>
      <p:sp>
        <p:nvSpPr>
          <p:cNvPr id="77" name="Shape 75"/>
          <p:cNvSpPr/>
          <p:nvPr/>
        </p:nvSpPr>
        <p:spPr>
          <a:xfrm>
            <a:off x="6558991" y="3959352"/>
            <a:ext cx="2504542" cy="502920"/>
          </a:xfrm>
          <a:prstGeom prst="rect">
            <a:avLst/>
          </a:prstGeom>
          <a:solidFill>
            <a:srgbClr val="0F172A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595567" y="4014216"/>
            <a:ext cx="243139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软杀伤 / 诱导重定向</a:t>
            </a:r>
            <a:endParaRPr lang="en-US" sz="655" dirty="0"/>
          </a:p>
        </p:txBody>
      </p:sp>
      <p:sp>
        <p:nvSpPr>
          <p:cNvPr id="79" name="Shape 77"/>
          <p:cNvSpPr/>
          <p:nvPr/>
        </p:nvSpPr>
        <p:spPr>
          <a:xfrm>
            <a:off x="9063533" y="3959352"/>
            <a:ext cx="2732227" cy="502920"/>
          </a:xfrm>
          <a:prstGeom prst="rect">
            <a:avLst/>
          </a:prstGeom>
          <a:solidFill>
            <a:srgbClr val="0F172A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100109" y="4014216"/>
            <a:ext cx="2659075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 + 飞行测试推动部署</a:t>
            </a:r>
            <a:endParaRPr lang="en-US" sz="655" dirty="0"/>
          </a:p>
        </p:txBody>
      </p:sp>
      <p:sp>
        <p:nvSpPr>
          <p:cNvPr id="81" name="Shape 79"/>
          <p:cNvSpPr/>
          <p:nvPr/>
        </p:nvSpPr>
        <p:spPr>
          <a:xfrm>
            <a:off x="411480" y="4462272"/>
            <a:ext cx="910742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48056" y="4517136"/>
            <a:ext cx="83759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2024</a:t>
            </a:r>
            <a:endParaRPr lang="en-US" sz="675" dirty="0"/>
          </a:p>
        </p:txBody>
      </p:sp>
      <p:sp>
        <p:nvSpPr>
          <p:cNvPr id="83" name="Shape 81"/>
          <p:cNvSpPr/>
          <p:nvPr/>
        </p:nvSpPr>
        <p:spPr>
          <a:xfrm>
            <a:off x="1322222" y="4462272"/>
            <a:ext cx="3073756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358798" y="4517136"/>
            <a:ext cx="3000604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EA-MADDPG 多导弹拦截</a:t>
            </a:r>
            <a:endParaRPr lang="en-US" sz="655" dirty="0"/>
          </a:p>
        </p:txBody>
      </p:sp>
      <p:sp>
        <p:nvSpPr>
          <p:cNvPr id="85" name="Shape 83"/>
          <p:cNvSpPr/>
          <p:nvPr/>
        </p:nvSpPr>
        <p:spPr>
          <a:xfrm>
            <a:off x="4395978" y="4462272"/>
            <a:ext cx="2163013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432554" y="4517136"/>
            <a:ext cx="2089861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MARL + 回放增强</a:t>
            </a:r>
            <a:endParaRPr lang="en-US" sz="655" dirty="0"/>
          </a:p>
        </p:txBody>
      </p:sp>
      <p:sp>
        <p:nvSpPr>
          <p:cNvPr id="87" name="Shape 85"/>
          <p:cNvSpPr/>
          <p:nvPr/>
        </p:nvSpPr>
        <p:spPr>
          <a:xfrm>
            <a:off x="6558991" y="4462272"/>
            <a:ext cx="2504542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595567" y="4517136"/>
            <a:ext cx="243139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多拦截体围捕</a:t>
            </a:r>
            <a:endParaRPr lang="en-US" sz="655" dirty="0"/>
          </a:p>
        </p:txBody>
      </p:sp>
      <p:sp>
        <p:nvSpPr>
          <p:cNvPr id="89" name="Shape 87"/>
          <p:cNvSpPr/>
          <p:nvPr/>
        </p:nvSpPr>
        <p:spPr>
          <a:xfrm>
            <a:off x="9063533" y="4462272"/>
            <a:ext cx="2732227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9100109" y="4517136"/>
            <a:ext cx="2659075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奖励与经验回放缓解稀疏回报</a:t>
            </a:r>
            <a:endParaRPr lang="en-US" sz="655" dirty="0"/>
          </a:p>
        </p:txBody>
      </p:sp>
      <p:sp>
        <p:nvSpPr>
          <p:cNvPr id="91" name="Shape 89"/>
          <p:cNvSpPr/>
          <p:nvPr/>
        </p:nvSpPr>
        <p:spPr>
          <a:xfrm>
            <a:off x="411480" y="4965192"/>
            <a:ext cx="910742" cy="502920"/>
          </a:xfrm>
          <a:prstGeom prst="rect">
            <a:avLst/>
          </a:prstGeom>
          <a:solidFill>
            <a:srgbClr val="0F172A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448056" y="5020056"/>
            <a:ext cx="83759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endParaRPr lang="en-US" sz="675" dirty="0"/>
          </a:p>
        </p:txBody>
      </p:sp>
      <p:sp>
        <p:nvSpPr>
          <p:cNvPr id="93" name="Shape 91"/>
          <p:cNvSpPr/>
          <p:nvPr/>
        </p:nvSpPr>
        <p:spPr>
          <a:xfrm>
            <a:off x="1322222" y="4965192"/>
            <a:ext cx="3073756" cy="502920"/>
          </a:xfrm>
          <a:prstGeom prst="rect">
            <a:avLst/>
          </a:prstGeom>
          <a:solidFill>
            <a:srgbClr val="0F172A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1358798" y="5020056"/>
            <a:ext cx="3000604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DreamerV3 / TQC / SAC 空域拦截比较</a:t>
            </a:r>
            <a:endParaRPr lang="en-US" sz="655" dirty="0"/>
          </a:p>
        </p:txBody>
      </p:sp>
      <p:sp>
        <p:nvSpPr>
          <p:cNvPr id="95" name="Shape 93"/>
          <p:cNvSpPr/>
          <p:nvPr/>
        </p:nvSpPr>
        <p:spPr>
          <a:xfrm>
            <a:off x="4395978" y="4965192"/>
            <a:ext cx="2163013" cy="502920"/>
          </a:xfrm>
          <a:prstGeom prst="rect">
            <a:avLst/>
          </a:prstGeom>
          <a:solidFill>
            <a:srgbClr val="0F172A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432554" y="5020056"/>
            <a:ext cx="2089861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模型型 / Actor–Critic</a:t>
            </a:r>
            <a:endParaRPr lang="en-US" sz="655" dirty="0"/>
          </a:p>
        </p:txBody>
      </p:sp>
      <p:sp>
        <p:nvSpPr>
          <p:cNvPr id="97" name="Shape 95"/>
          <p:cNvSpPr/>
          <p:nvPr/>
        </p:nvSpPr>
        <p:spPr>
          <a:xfrm>
            <a:off x="6558991" y="4965192"/>
            <a:ext cx="2504542" cy="502920"/>
          </a:xfrm>
          <a:prstGeom prst="rect">
            <a:avLst/>
          </a:prstGeom>
          <a:solidFill>
            <a:srgbClr val="0F172A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6595567" y="5020056"/>
            <a:ext cx="243139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固定翼追击逃逸目标</a:t>
            </a:r>
            <a:endParaRPr lang="en-US" sz="655" dirty="0"/>
          </a:p>
        </p:txBody>
      </p:sp>
      <p:sp>
        <p:nvSpPr>
          <p:cNvPr id="99" name="Shape 97"/>
          <p:cNvSpPr/>
          <p:nvPr/>
        </p:nvSpPr>
        <p:spPr>
          <a:xfrm>
            <a:off x="9063533" y="4965192"/>
            <a:ext cx="2732227" cy="502920"/>
          </a:xfrm>
          <a:prstGeom prst="rect">
            <a:avLst/>
          </a:prstGeom>
          <a:solidFill>
            <a:srgbClr val="0F172A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9100109" y="5020056"/>
            <a:ext cx="2659075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世界模型显示泛化与样本优势</a:t>
            </a:r>
            <a:endParaRPr lang="en-US" sz="655" dirty="0"/>
          </a:p>
        </p:txBody>
      </p:sp>
      <p:sp>
        <p:nvSpPr>
          <p:cNvPr id="101" name="Shape 99"/>
          <p:cNvSpPr/>
          <p:nvPr/>
        </p:nvSpPr>
        <p:spPr>
          <a:xfrm>
            <a:off x="411480" y="5468112"/>
            <a:ext cx="910742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448056" y="5522976"/>
            <a:ext cx="83759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675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2025</a:t>
            </a:r>
            <a:endParaRPr lang="en-US" sz="675" dirty="0"/>
          </a:p>
        </p:txBody>
      </p:sp>
      <p:sp>
        <p:nvSpPr>
          <p:cNvPr id="103" name="Shape 101"/>
          <p:cNvSpPr/>
          <p:nvPr/>
        </p:nvSpPr>
        <p:spPr>
          <a:xfrm>
            <a:off x="1322222" y="5468112"/>
            <a:ext cx="3073756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358798" y="5522976"/>
            <a:ext cx="3000604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LFMAPPO / HFRL-IA 层级协同拦截</a:t>
            </a:r>
            <a:endParaRPr lang="en-US" sz="655" dirty="0"/>
          </a:p>
        </p:txBody>
      </p:sp>
      <p:sp>
        <p:nvSpPr>
          <p:cNvPr id="105" name="Shape 103"/>
          <p:cNvSpPr/>
          <p:nvPr/>
        </p:nvSpPr>
        <p:spPr>
          <a:xfrm>
            <a:off x="4395978" y="5468112"/>
            <a:ext cx="2163013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4432554" y="5522976"/>
            <a:ext cx="2089861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HRL + GNN / 通信</a:t>
            </a:r>
            <a:endParaRPr lang="en-US" sz="655" dirty="0"/>
          </a:p>
        </p:txBody>
      </p:sp>
      <p:sp>
        <p:nvSpPr>
          <p:cNvPr id="107" name="Shape 105"/>
          <p:cNvSpPr/>
          <p:nvPr/>
        </p:nvSpPr>
        <p:spPr>
          <a:xfrm>
            <a:off x="6558991" y="5468112"/>
            <a:ext cx="2504542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595567" y="5522976"/>
            <a:ext cx="2431390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UAV 动态拦截</a:t>
            </a:r>
            <a:endParaRPr lang="en-US" sz="655" dirty="0"/>
          </a:p>
        </p:txBody>
      </p:sp>
      <p:sp>
        <p:nvSpPr>
          <p:cNvPr id="109" name="Shape 107"/>
          <p:cNvSpPr/>
          <p:nvPr/>
        </p:nvSpPr>
        <p:spPr>
          <a:xfrm>
            <a:off x="9063533" y="5468112"/>
            <a:ext cx="2732227" cy="502920"/>
          </a:xfrm>
          <a:prstGeom prst="rect">
            <a:avLst/>
          </a:prstGeom>
          <a:solidFill>
            <a:srgbClr val="172033"/>
          </a:solidFill>
          <a:ln w="5715">
            <a:solidFill>
              <a:srgbClr val="334155">
                <a:alpha val="65000"/>
              </a:srgbClr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100109" y="5522976"/>
            <a:ext cx="2659075" cy="4297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655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层级组织成为复杂系统框架</a:t>
            </a:r>
            <a:endParaRPr lang="en-US" sz="655" dirty="0"/>
          </a:p>
        </p:txBody>
      </p:sp>
      <p:sp>
        <p:nvSpPr>
          <p:cNvPr id="111" name="Text 109"/>
          <p:cNvSpPr/>
          <p:nvPr/>
        </p:nvSpPr>
        <p:spPr>
          <a:xfrm>
            <a:off x="640080" y="6382512"/>
            <a:ext cx="10881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发展阶段：2021–2022 可行性证明 → 2023–2024 任务深化 → 2025–2026 系统化与层级化。</a:t>
            </a:r>
            <a:endParaRPr lang="en-US" sz="7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937760"/>
            <a:ext cx="2743200" cy="2743200"/>
          </a:xfrm>
          <a:prstGeom prst="ellipse">
            <a:avLst/>
          </a:prstGeom>
          <a:solidFill>
            <a:srgbClr val="7C3AED">
              <a:alpha val="1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仿真平台与数据集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32004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仿真平台与数据集：训练依赖仿真，但高保真决定可信度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758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平台选择直接影响样本效率、泛化与 sim-to-real 可行性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640080" y="1170432"/>
            <a:ext cx="3291840" cy="123444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170432"/>
            <a:ext cx="41148" cy="12344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29844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 2D / 3D 对抗环境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4672" y="1609344"/>
            <a:ext cx="299923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快速迭代、适合算法原型；但动力学与传感误差较弱。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34840" y="1170432"/>
            <a:ext cx="3291840" cy="123444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1170432"/>
            <a:ext cx="41148" cy="12344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129844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数字战场 / 自建 UAV SIM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99432" y="1609344"/>
            <a:ext cx="299923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可模拟任务语义、动态目标、障碍与多人协同。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229600" y="1170432"/>
            <a:ext cx="3291840" cy="123444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34D399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1170432"/>
            <a:ext cx="41148" cy="1234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94192" y="129844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AirSim / Unreal Engine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94192" y="1609344"/>
            <a:ext cx="299923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视觉与物理仿真较高保真，支持 PX4 / ROS 等接口。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0080" y="2862072"/>
            <a:ext cx="3291840" cy="123444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FBBF24">
                <a:alpha val="5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2862072"/>
            <a:ext cx="41148" cy="123444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299008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高保真飞行动力学仿真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672" y="3300984"/>
            <a:ext cx="299923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适合固定翼追击、风扰、传感器噪声与未见策略测试。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434840" y="2862072"/>
            <a:ext cx="3291840" cy="1234440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60A5FA">
                <a:alpha val="5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434840" y="2862072"/>
            <a:ext cx="41148" cy="123444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99432" y="2990088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硬件在环 / 半实物平台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99432" y="3300984"/>
            <a:ext cx="2999232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验证控制链路、延迟与传感误差，是部署前关键环节。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434840" y="4572000"/>
            <a:ext cx="6967728" cy="1225296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F87171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34840" y="4572000"/>
            <a:ext cx="41148" cy="1225296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9432" y="4700016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数据集与标准化痛点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99432" y="5010912"/>
            <a:ext cx="6675120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不同数据源、标签格式、场景与测试条件差异大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真实感知误差、隐蔽目标与集群对抗数据不足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很多 RL 工作仍使用自建环境，跨平台可比性有限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77240" y="6108192"/>
            <a:ext cx="10515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4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建议：报告实验时同时给出场景随机化范围、传感器误差模型、目标策略分布和跨场景测试设置。</a:t>
            </a:r>
            <a:endParaRPr lang="en-US" sz="74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937760"/>
            <a:ext cx="2743200" cy="2743200"/>
          </a:xfrm>
          <a:prstGeom prst="ellipse">
            <a:avLst/>
          </a:prstGeom>
          <a:solidFill>
            <a:srgbClr val="7C3AED">
              <a:alpha val="1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评测指标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32004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评测指标：不能只看累计 reward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758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反无人机评估应同时覆盖效果、鲁棒、资源、安全与学习效率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94360" y="1207008"/>
            <a:ext cx="3310128" cy="1508760"/>
          </a:xfrm>
          <a:prstGeom prst="roundRect">
            <a:avLst/>
          </a:prstGeom>
          <a:solidFill>
            <a:srgbClr val="172033">
              <a:alpha val="92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3716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508760" y="1408176"/>
            <a:ext cx="2258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任务效果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58952" y="1920240"/>
            <a:ext cx="299008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拦截 / 压制成功率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平均捕获时间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威胁剩余距离 / 进入禁区次数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4416552" y="1207008"/>
            <a:ext cx="3310128" cy="1508760"/>
          </a:xfrm>
          <a:prstGeom prst="roundRect">
            <a:avLst/>
          </a:prstGeom>
          <a:solidFill>
            <a:srgbClr val="172033">
              <a:alpha val="92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53712" y="13716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30952" y="1408176"/>
            <a:ext cx="2258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鲁棒泛化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81144" y="1920240"/>
            <a:ext cx="299008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未见机动策略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风扰 / 噪声 / 遮挡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通信丢包 / 延迟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8238744" y="1207008"/>
            <a:ext cx="3310128" cy="1508760"/>
          </a:xfrm>
          <a:prstGeom prst="roundRect">
            <a:avLst/>
          </a:prstGeom>
          <a:solidFill>
            <a:srgbClr val="172033">
              <a:alpha val="92000"/>
            </a:srgbClr>
          </a:solidFill>
          <a:ln w="12700">
            <a:solidFill>
              <a:srgbClr val="34D399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75904" y="13716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153144" y="1408176"/>
            <a:ext cx="2258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资源代价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03336" y="1920240"/>
            <a:ext cx="299008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能耗 / 弹药 / 干扰功率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通信开销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装备利用率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594360" y="3218688"/>
            <a:ext cx="3310128" cy="1508760"/>
          </a:xfrm>
          <a:prstGeom prst="roundRect">
            <a:avLst/>
          </a:prstGeom>
          <a:solidFill>
            <a:srgbClr val="172033">
              <a:alpha val="92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3832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508760" y="3419856"/>
            <a:ext cx="2258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安全合规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58952" y="3931920"/>
            <a:ext cx="299008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误伤概率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越界 / 碰撞 / 附带损害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人类授权与审计记录</a:t>
            </a:r>
            <a:endParaRPr lang="en-US" sz="810" dirty="0"/>
          </a:p>
        </p:txBody>
      </p:sp>
      <p:sp>
        <p:nvSpPr>
          <p:cNvPr id="27" name="Shape 25"/>
          <p:cNvSpPr/>
          <p:nvPr/>
        </p:nvSpPr>
        <p:spPr>
          <a:xfrm>
            <a:off x="4416552" y="3218688"/>
            <a:ext cx="3310128" cy="1508760"/>
          </a:xfrm>
          <a:prstGeom prst="roundRect">
            <a:avLst/>
          </a:prstGeom>
          <a:solidFill>
            <a:srgbClr val="172033">
              <a:alpha val="92000"/>
            </a:srgbClr>
          </a:solidFill>
          <a:ln w="12700">
            <a:solidFill>
              <a:srgbClr val="60A5FA">
                <a:alpha val="45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53712" y="338328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30952" y="3419856"/>
            <a:ext cx="2258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学习性能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581144" y="3931920"/>
            <a:ext cx="2990088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样本效率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收敛稳定性</a:t>
            </a:r>
            <a:endParaRPr lang="en-US" sz="810" dirty="0"/>
          </a:p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训练成本与复现实验设置</a:t>
            </a:r>
            <a:endParaRPr lang="en-US" sz="810" dirty="0"/>
          </a:p>
        </p:txBody>
      </p:sp>
      <p:sp>
        <p:nvSpPr>
          <p:cNvPr id="31" name="Shape 29"/>
          <p:cNvSpPr/>
          <p:nvPr/>
        </p:nvSpPr>
        <p:spPr>
          <a:xfrm>
            <a:off x="4434840" y="5349240"/>
            <a:ext cx="6995160" cy="658368"/>
          </a:xfrm>
          <a:prstGeom prst="roundRect">
            <a:avLst/>
          </a:prstGeom>
          <a:solidFill>
            <a:srgbClr val="172033">
              <a:alpha val="95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34840" y="5349240"/>
            <a:ext cx="41148" cy="65836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9432" y="5477256"/>
            <a:ext cx="67025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评测原则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99432" y="5788152"/>
            <a:ext cx="6702552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一个可信的 C-UAS RL 结果应报告：训练环境 + 未见测试环境 + 噪声/延迟扰动 + 对手策略变化 + 安全约束违规率。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937760"/>
            <a:ext cx="2743200" cy="2743200"/>
          </a:xfrm>
          <a:prstGeom prst="ellipse">
            <a:avLst/>
          </a:prstGeom>
          <a:solidFill>
            <a:srgbClr val="7C3AED">
              <a:alpha val="1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开放问题与未来方向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32004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开放问题与未来方向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758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未来重点不在“换算法名词”，而在系统结构与可部署性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77240" y="1143000"/>
            <a:ext cx="10607040" cy="749808"/>
          </a:xfrm>
          <a:prstGeom prst="roundRect">
            <a:avLst/>
          </a:prstGeom>
          <a:solidFill>
            <a:srgbClr val="172033"/>
          </a:solidFill>
          <a:ln w="11430">
            <a:solidFill>
              <a:srgbClr val="38BDF8">
                <a:alpha val="52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134416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45920" y="130759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POMDP 与信念状态</a:t>
            </a:r>
            <a:endParaRPr lang="en-US" sz="1080" dirty="0"/>
          </a:p>
        </p:txBody>
      </p:sp>
      <p:sp>
        <p:nvSpPr>
          <p:cNvPr id="14" name="Text 12"/>
          <p:cNvSpPr/>
          <p:nvPr/>
        </p:nvSpPr>
        <p:spPr>
          <a:xfrm>
            <a:off x="4343400" y="131673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基于不完整证据做风险控制；循环记忆、不确定性回放与方向预测误差值得关注。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777240" y="2103120"/>
            <a:ext cx="10607040" cy="749808"/>
          </a:xfrm>
          <a:prstGeom prst="roundRect">
            <a:avLst/>
          </a:prstGeom>
          <a:solidFill>
            <a:srgbClr val="0F172A"/>
          </a:solidFill>
          <a:ln w="11430">
            <a:solidFill>
              <a:srgbClr val="A78BFA">
                <a:alpha val="52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230428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0" y="226771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任务—路径—控制一体化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4343400" y="227685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层级 MDP、角色分工、图结构编码；关键是层间接口可解释、可验证。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777240" y="3063240"/>
            <a:ext cx="10607040" cy="749808"/>
          </a:xfrm>
          <a:prstGeom prst="roundRect">
            <a:avLst/>
          </a:prstGeom>
          <a:solidFill>
            <a:srgbClr val="172033"/>
          </a:solidFill>
          <a:ln w="11430">
            <a:solidFill>
              <a:srgbClr val="34D399">
                <a:alpha val="52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26440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45920" y="322783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感知—决策闭环融合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4343400" y="323697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主动传感器开关、PTZ 跟踪、多模态权重自适应，让 RL 成为系统调度器。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777240" y="4023360"/>
            <a:ext cx="10607040" cy="749808"/>
          </a:xfrm>
          <a:prstGeom prst="roundRect">
            <a:avLst/>
          </a:prstGeom>
          <a:solidFill>
            <a:srgbClr val="0F172A"/>
          </a:solidFill>
          <a:ln w="11430">
            <a:solidFill>
              <a:srgbClr val="FBBF24">
                <a:alpha val="52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22452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45920" y="418795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数字孪生与 HIL 验证</a:t>
            </a:r>
            <a:endParaRPr lang="en-US" sz="1080" dirty="0"/>
          </a:p>
        </p:txBody>
      </p:sp>
      <p:sp>
        <p:nvSpPr>
          <p:cNvPr id="26" name="Text 24"/>
          <p:cNvSpPr/>
          <p:nvPr/>
        </p:nvSpPr>
        <p:spPr>
          <a:xfrm>
            <a:off x="4343400" y="419709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高保真仿真、误差注入、课程迁移、半实物验证报告将更有影响力。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777240" y="4983480"/>
            <a:ext cx="10607040" cy="749808"/>
          </a:xfrm>
          <a:prstGeom prst="roundRect">
            <a:avLst/>
          </a:prstGeom>
          <a:solidFill>
            <a:srgbClr val="172033"/>
          </a:solidFill>
          <a:ln w="11430">
            <a:solidFill>
              <a:srgbClr val="60A5FA">
                <a:alpha val="52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184648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0A5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45920" y="5148072"/>
            <a:ext cx="2560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 RL 与人机协同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4343400" y="5157216"/>
            <a:ext cx="6583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约束强化学习、规则安全包线、可审计策略、人类在环授权。</a:t>
            </a:r>
            <a:endParaRPr lang="en-US" sz="820" dirty="0"/>
          </a:p>
        </p:txBody>
      </p:sp>
      <p:sp>
        <p:nvSpPr>
          <p:cNvPr id="31" name="Text 29"/>
          <p:cNvSpPr/>
          <p:nvPr/>
        </p:nvSpPr>
        <p:spPr>
          <a:xfrm>
            <a:off x="822960" y="6144768"/>
            <a:ext cx="105156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讨论切入：哪个方向最接近课题组已有能力？是算法、仿真平台、感知链路，还是软杀伤/电子对抗场景？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937760"/>
            <a:ext cx="2743200" cy="2743200"/>
          </a:xfrm>
          <a:prstGeom prst="ellipse">
            <a:avLst/>
          </a:prstGeom>
          <a:solidFill>
            <a:srgbClr val="7C3AED">
              <a:alpha val="1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32004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结论：RL 是反无人机系统的自适应决策候选核心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758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合理定位是混合系统中的决策层与行动层模块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77240" y="1417320"/>
            <a:ext cx="3337560" cy="1828800"/>
          </a:xfrm>
          <a:prstGeom prst="roundRect">
            <a:avLst/>
          </a:prstGeom>
          <a:solidFill>
            <a:srgbClr val="172033">
              <a:alpha val="92000"/>
            </a:srgbClr>
          </a:solidFill>
          <a:ln w="12700">
            <a:solidFill>
              <a:srgbClr val="38BDF8">
                <a:alpha val="4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5819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91640" y="16184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最适合的任务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41832" y="2130552"/>
            <a:ext cx="30175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长期回报、连续控制、多主体耦合、对手适应：任务分配、协同围捕、电子压制、主动感知与层级交战决策。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4544568" y="1417320"/>
            <a:ext cx="3337560" cy="1828800"/>
          </a:xfrm>
          <a:prstGeom prst="roundRect">
            <a:avLst/>
          </a:prstGeom>
          <a:solidFill>
            <a:srgbClr val="172033">
              <a:alpha val="92000"/>
            </a:srgbClr>
          </a:solidFill>
          <a:ln w="12700">
            <a:solidFill>
              <a:srgbClr val="A78BFA">
                <a:alpha val="4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81728" y="15819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58968" y="16184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最有潜力的主线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09160" y="2130552"/>
            <a:ext cx="30175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MARL 与 HRL 正在把“任务分配—航迹规划—底层控制”整合为可扩展系统框架。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8311896" y="1417320"/>
            <a:ext cx="3337560" cy="1828800"/>
          </a:xfrm>
          <a:prstGeom prst="roundRect">
            <a:avLst/>
          </a:prstGeom>
          <a:solidFill>
            <a:srgbClr val="172033">
              <a:alpha val="92000"/>
            </a:srgbClr>
          </a:solidFill>
          <a:ln w="12700">
            <a:solidFill>
              <a:srgbClr val="FBBF24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49056" y="158191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26296" y="16184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最关键的瓶颈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476488" y="2130552"/>
            <a:ext cx="301752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样本效率、对抗鲁棒性、通信受限协同、sim-to-real 与法规合规。</a:t>
            </a:r>
            <a:endParaRPr lang="en-US" sz="810" dirty="0"/>
          </a:p>
        </p:txBody>
      </p:sp>
      <p:sp>
        <p:nvSpPr>
          <p:cNvPr id="23" name="Shape 21"/>
          <p:cNvSpPr/>
          <p:nvPr/>
        </p:nvSpPr>
        <p:spPr>
          <a:xfrm>
            <a:off x="960120" y="4434840"/>
            <a:ext cx="10241280" cy="114300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38BDF8">
                <a:alpha val="7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34440" y="4745736"/>
            <a:ext cx="9692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从研究原型到工程体系的关键，不是让 RL 替代传统系统，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而是让 RL 与感知、博弈推演、规则约束、安全包线共同形成混合式闭环。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2057400" y="5806440"/>
            <a:ext cx="1234440" cy="347472"/>
          </a:xfrm>
          <a:prstGeom prst="roundRect">
            <a:avLst/>
          </a:prstGeom>
          <a:solidFill>
            <a:srgbClr val="38BDF8"/>
          </a:solidFill>
          <a:ln w="12700">
            <a:solidFill>
              <a:srgbClr val="38BDF8">
                <a:alpha val="9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30552" y="5870448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闭环决策</a:t>
            </a:r>
            <a:endParaRPr lang="en-US" sz="830" dirty="0"/>
          </a:p>
        </p:txBody>
      </p:sp>
      <p:sp>
        <p:nvSpPr>
          <p:cNvPr id="27" name="Shape 25"/>
          <p:cNvSpPr/>
          <p:nvPr/>
        </p:nvSpPr>
        <p:spPr>
          <a:xfrm>
            <a:off x="3749040" y="5806440"/>
            <a:ext cx="1508760" cy="347472"/>
          </a:xfrm>
          <a:prstGeom prst="roundRect">
            <a:avLst/>
          </a:prstGeom>
          <a:solidFill>
            <a:srgbClr val="A78BFA"/>
          </a:solidFill>
          <a:ln w="12700">
            <a:solidFill>
              <a:srgbClr val="A78BFA">
                <a:alpha val="9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22192" y="5870448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多智能体协同</a:t>
            </a:r>
            <a:endParaRPr lang="en-US" sz="830" dirty="0"/>
          </a:p>
        </p:txBody>
      </p:sp>
      <p:sp>
        <p:nvSpPr>
          <p:cNvPr id="29" name="Shape 27"/>
          <p:cNvSpPr/>
          <p:nvPr/>
        </p:nvSpPr>
        <p:spPr>
          <a:xfrm>
            <a:off x="5715000" y="5806440"/>
            <a:ext cx="1325880" cy="347472"/>
          </a:xfrm>
          <a:prstGeom prst="roundRect">
            <a:avLst/>
          </a:prstGeom>
          <a:solidFill>
            <a:srgbClr val="34D399"/>
          </a:solidFill>
          <a:ln w="12700">
            <a:solidFill>
              <a:srgbClr val="34D399">
                <a:alpha val="9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88152" y="5870448"/>
            <a:ext cx="1179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高保真验证</a:t>
            </a:r>
            <a:endParaRPr lang="en-US" sz="830" dirty="0"/>
          </a:p>
        </p:txBody>
      </p:sp>
      <p:sp>
        <p:nvSpPr>
          <p:cNvPr id="31" name="Shape 29"/>
          <p:cNvSpPr/>
          <p:nvPr/>
        </p:nvSpPr>
        <p:spPr>
          <a:xfrm>
            <a:off x="7452360" y="5806440"/>
            <a:ext cx="1143000" cy="347472"/>
          </a:xfrm>
          <a:prstGeom prst="roundRect">
            <a:avLst/>
          </a:prstGeom>
          <a:solidFill>
            <a:srgbClr val="FBBF24"/>
          </a:solidFill>
          <a:ln w="12700">
            <a:solidFill>
              <a:srgbClr val="FBBF24">
                <a:alpha val="9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25512" y="5870448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0B10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安全合规</a:t>
            </a:r>
            <a:endParaRPr lang="en-US" sz="8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020"/>
          </a:solidFill>
          <a:ln w="12700">
            <a:solidFill>
              <a:srgbClr val="0B10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18320" y="-640080"/>
            <a:ext cx="3657600" cy="3657600"/>
          </a:xfrm>
          <a:prstGeom prst="ellipse">
            <a:avLst/>
          </a:prstGeom>
          <a:solidFill>
            <a:srgbClr val="1D4ED8">
              <a:alpha val="22000"/>
            </a:srgbClr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188720" y="4937760"/>
            <a:ext cx="2743200" cy="2743200"/>
          </a:xfrm>
          <a:prstGeom prst="ellipse">
            <a:avLst/>
          </a:prstGeom>
          <a:solidFill>
            <a:srgbClr val="7C3AED">
              <a:alpha val="17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65105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</a:t>
            </a:r>
            <a:endParaRPr lang="en-US" sz="650" dirty="0"/>
          </a:p>
        </p:txBody>
      </p:sp>
      <p:sp>
        <p:nvSpPr>
          <p:cNvPr id="7" name="Text 5"/>
          <p:cNvSpPr/>
          <p:nvPr/>
        </p:nvSpPr>
        <p:spPr>
          <a:xfrm>
            <a:off x="11201400" y="6455664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02920" y="32004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参考文献（节选）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502920" y="850392"/>
            <a:ext cx="960120" cy="0"/>
          </a:xfrm>
          <a:prstGeom prst="line">
            <a:avLst/>
          </a:prstGeom>
          <a:noFill/>
          <a:ln w="2794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72768" y="758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完整题录以原综述语料与 master_records.bib 为基础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566928" y="1170432"/>
            <a:ext cx="5532120" cy="5166360"/>
          </a:xfrm>
          <a:prstGeom prst="roundRect">
            <a:avLst/>
          </a:prstGeom>
          <a:solidFill>
            <a:srgbClr val="0F172A">
              <a:alpha val="95000"/>
            </a:srgbClr>
          </a:solidFill>
          <a:ln w="12700">
            <a:solidFill>
              <a:srgbClr val="38BDF8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1170432"/>
            <a:ext cx="41148" cy="516636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1298448"/>
            <a:ext cx="5239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主要综述与算法工作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31520" y="1609344"/>
            <a:ext cx="5239512" cy="466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[1] Dong et al. Securing the Skies: A Comprehensive Survey on Anti-UAV Methods, Benchmarking, and Future Directions. 2025/2026.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[2] Wandelt et al. On the construction of effective DRONEWALLS: Technologies and challenges for Counter-UAV systems. 2025.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[3] Yang et al. A review of reinforcement learning approaches for pursuit-evasion games. Chinese Journal of Aeronautics, 2025.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[4] Liu et al. Task assignment in ground-to-air confrontation based on multiagent deep reinforcement learning. 2023.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[5] Jiang et al. Anti-drone Policy Learning Based on Self-attention Multi-agent Deterministic Policy Gradient. 2022.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[6] Wang, Liu, Zhou. Autonomous UAV Interception via Augmented Adversarial Inverse Reinforcement Learning. 2022.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[7] Feng et al. Approximating Nash equilibrium for anti-UAV jamming Markov game using event-triggered MARL. 2023.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[8] Chae et al. Reinforcement Learning-Based Counter Fixed-Wing Drone System Using GNSS Deception. 2024.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355080" y="1170432"/>
            <a:ext cx="5349240" cy="5166360"/>
          </a:xfrm>
          <a:prstGeom prst="roundRect">
            <a:avLst/>
          </a:prstGeom>
          <a:solidFill>
            <a:srgbClr val="0F172A">
              <a:alpha val="95000"/>
            </a:srgbClr>
          </a:solidFill>
          <a:ln w="12700">
            <a:solidFill>
              <a:srgbClr val="A78BFA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55080" y="1170432"/>
            <a:ext cx="41148" cy="5166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9672" y="1298448"/>
            <a:ext cx="5056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平台、感知与部署工作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19672" y="1609344"/>
            <a:ext cx="5056632" cy="4663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[9] Wisniewski et al. Towards Fully Autonomous Drone Tracking by a RL Agent Controlling a Pan–Tilt–Zoom Camera. 2024.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[10] Cai et al. Interception of a Single Intruding UAV by Multiple Missiles Using EA-MADDPG. 2024.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[11] GLIDE: Multi-Agent DRL for Coordinated UAV Control in Dynamic Military Environments. 2024.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[12] Chen et al. A Multi-agent RL Framework for Coordinated Multi-UAV Interception Strategies. 2025.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[13] Ren et al. Multi-UAV Cooperative Pursuit Planning via Communication-Aware MARL. 2025.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[14] Pang et al. A hierarchical RL framework for multi-UAV combat using leader–follower strategy. 2025.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[15] Giral, Gomez, Le Clainche. Intercepting unauthorized aerial robots in controlled airspace using RL. 2025.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[16] Chan et al. Reinforcement learning-based drone simulators: survey, comparison, and challenges. 2024.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85800" y="6382512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9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注：部分中文题录与上传语料中的 221 条去重文献共同构成本 PPT 的基础语料。</a:t>
            </a:r>
            <a:endParaRPr lang="en-US" sz="69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强化学习在反无人机系统中的应用-组会汇报</dc:title>
  <dc:subject>强化学习在反无人机系统中的应用</dc:subject>
  <dc:creator>OpenAI</dc:creator>
  <cp:lastModifiedBy>OpenAI</cp:lastModifiedBy>
  <cp:revision>1</cp:revision>
  <dcterms:created xsi:type="dcterms:W3CDTF">2026-05-14T05:20:12Z</dcterms:created>
  <dcterms:modified xsi:type="dcterms:W3CDTF">2026-05-14T05:20:12Z</dcterms:modified>
</cp:coreProperties>
</file>